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8229600" cx="14630400"/>
  <p:notesSz cx="8229600" cy="14630400"/>
  <p:embeddedFontLst>
    <p:embeddedFont>
      <p:font typeface="Source Sans 3"/>
      <p:regular r:id="rId17"/>
      <p:bold r:id="rId18"/>
      <p:italic r:id="rId19"/>
      <p:boldItalic r:id="rId20"/>
    </p:embeddedFont>
    <p:embeddedFont>
      <p:font typeface="Source Serif 4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Sans3-boldItalic.fntdata"/><Relationship Id="rId11" Type="http://schemas.openxmlformats.org/officeDocument/2006/relationships/slide" Target="slides/slide7.xml"/><Relationship Id="rId22" Type="http://schemas.openxmlformats.org/officeDocument/2006/relationships/font" Target="fonts/SourceSerif4-bold.fntdata"/><Relationship Id="rId10" Type="http://schemas.openxmlformats.org/officeDocument/2006/relationships/slide" Target="slides/slide6.xml"/><Relationship Id="rId21" Type="http://schemas.openxmlformats.org/officeDocument/2006/relationships/font" Target="fonts/SourceSerif4-regular.fntdata"/><Relationship Id="rId13" Type="http://schemas.openxmlformats.org/officeDocument/2006/relationships/slide" Target="slides/slide9.xml"/><Relationship Id="rId24" Type="http://schemas.openxmlformats.org/officeDocument/2006/relationships/font" Target="fonts/SourceSerif4-boldItalic.fntdata"/><Relationship Id="rId12" Type="http://schemas.openxmlformats.org/officeDocument/2006/relationships/slide" Target="slides/slide8.xml"/><Relationship Id="rId23" Type="http://schemas.openxmlformats.org/officeDocument/2006/relationships/font" Target="fonts/SourceSerif4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SourceSans3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SourceSans3-italic.fntdata"/><Relationship Id="rId6" Type="http://schemas.openxmlformats.org/officeDocument/2006/relationships/slide" Target="slides/slide2.xml"/><Relationship Id="rId18" Type="http://schemas.openxmlformats.org/officeDocument/2006/relationships/font" Target="fonts/SourceSans3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dd8b96ae9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dd8b96ae9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cdd8b96ae9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dd8b96ae9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dd8b96ae9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dd8b96ae9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de36932b5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de36932b5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cde36932b5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/>
          <p:nvPr/>
        </p:nvSpPr>
        <p:spPr>
          <a:xfrm>
            <a:off x="837724" y="2687717"/>
            <a:ext cx="12954952" cy="211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Проектирование транспортного канала для инжекции пучка из линейного ускорителя в бустер</a:t>
            </a:r>
            <a:endParaRPr b="0" i="0" sz="4400" u="none" cap="none" strike="noStrike"/>
          </a:p>
        </p:txBody>
      </p:sp>
      <p:sp>
        <p:nvSpPr>
          <p:cNvPr id="53" name="Google Shape;53;p12"/>
          <p:cNvSpPr/>
          <p:nvPr/>
        </p:nvSpPr>
        <p:spPr>
          <a:xfrm>
            <a:off x="837724" y="5158740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t/>
            </a:r>
            <a:endParaRPr b="0" i="0" sz="1850" u="none" cap="none" strike="noStrike"/>
          </a:p>
        </p:txBody>
      </p:sp>
      <p:sp>
        <p:nvSpPr>
          <p:cNvPr id="54" name="Google Shape;54;p12"/>
          <p:cNvSpPr/>
          <p:nvPr/>
        </p:nvSpPr>
        <p:spPr>
          <a:xfrm>
            <a:off x="12796650" y="7755100"/>
            <a:ext cx="1764600" cy="38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2"/>
          <p:cNvSpPr txBox="1"/>
          <p:nvPr/>
        </p:nvSpPr>
        <p:spPr>
          <a:xfrm>
            <a:off x="3112200" y="5948825"/>
            <a:ext cx="8406000" cy="13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Cisco Packet Tracer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/>
          <p:nvPr/>
        </p:nvSpPr>
        <p:spPr>
          <a:xfrm>
            <a:off x="783308" y="737610"/>
            <a:ext cx="5266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Source Serif 4"/>
              <a:buNone/>
            </a:pPr>
            <a:r>
              <a:rPr b="0" i="0" lang="en-US" sz="410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Постановка задачи</a:t>
            </a:r>
            <a:endParaRPr b="0" i="0" sz="4100" u="none" cap="none" strike="noStrike"/>
          </a:p>
        </p:txBody>
      </p:sp>
      <p:sp>
        <p:nvSpPr>
          <p:cNvPr id="62" name="Google Shape;62;p13"/>
          <p:cNvSpPr/>
          <p:nvPr/>
        </p:nvSpPr>
        <p:spPr>
          <a:xfrm>
            <a:off x="391662" y="3222289"/>
            <a:ext cx="13063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63" name="Google Shape;63;p13"/>
          <p:cNvSpPr/>
          <p:nvPr/>
        </p:nvSpPr>
        <p:spPr>
          <a:xfrm>
            <a:off x="391662" y="3804148"/>
            <a:ext cx="13063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3000" u="none" cap="none" strike="noStrike"/>
          </a:p>
        </p:txBody>
      </p:sp>
      <p:sp>
        <p:nvSpPr>
          <p:cNvPr id="64" name="Google Shape;64;p13"/>
          <p:cNvSpPr/>
          <p:nvPr/>
        </p:nvSpPr>
        <p:spPr>
          <a:xfrm>
            <a:off x="1979409" y="3230974"/>
            <a:ext cx="308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Source Serif 4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Начальные параметры</a:t>
            </a:r>
            <a:endParaRPr b="0" i="0" sz="3000" u="none" cap="none" strike="noStrike"/>
          </a:p>
        </p:txBody>
      </p:sp>
      <p:sp>
        <p:nvSpPr>
          <p:cNvPr id="65" name="Google Shape;65;p13"/>
          <p:cNvSpPr/>
          <p:nvPr/>
        </p:nvSpPr>
        <p:spPr>
          <a:xfrm>
            <a:off x="391662" y="5133599"/>
            <a:ext cx="62589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2275" lvl="0" marL="342900" marR="0" rtl="1" algn="ctr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Source Sans 3"/>
              <a:buChar char="•"/>
            </a:pPr>
            <a:r>
              <a:rPr b="0" i="0" lang="en-US" sz="300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αₓ = -0.5, βₓ = 5.0 м</a:t>
            </a:r>
            <a:endParaRPr sz="3000"/>
          </a:p>
          <a:p>
            <a:pPr indent="-422275" lvl="0" marL="342900" marR="0" rtl="1" algn="ctr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Source Sans 3"/>
              <a:buChar char="•"/>
            </a:pPr>
            <a:r>
              <a:rPr b="0" i="0" lang="en-US" sz="300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αᵧ = 0.3, βᵧ = 2.5 м</a:t>
            </a:r>
            <a:endParaRPr b="0" i="0" sz="3000" u="none" cap="none" strike="noStrike"/>
          </a:p>
        </p:txBody>
      </p:sp>
      <p:sp>
        <p:nvSpPr>
          <p:cNvPr id="66" name="Google Shape;66;p13"/>
          <p:cNvSpPr/>
          <p:nvPr/>
        </p:nvSpPr>
        <p:spPr>
          <a:xfrm>
            <a:off x="8963208" y="3222299"/>
            <a:ext cx="2740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Source Serif 4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Целевые параметры</a:t>
            </a:r>
            <a:endParaRPr b="0" i="0" sz="3000" u="none" cap="none" strike="noStrike"/>
          </a:p>
        </p:txBody>
      </p:sp>
      <p:sp>
        <p:nvSpPr>
          <p:cNvPr id="67" name="Google Shape;67;p13"/>
          <p:cNvSpPr/>
          <p:nvPr/>
        </p:nvSpPr>
        <p:spPr>
          <a:xfrm>
            <a:off x="7204180" y="5133599"/>
            <a:ext cx="62589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2275" lvl="0" marL="342900" marR="0" rtl="1" algn="ctr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Source Sans 3"/>
              <a:buChar char="•"/>
            </a:pPr>
            <a:r>
              <a:rPr b="0" i="0" lang="en-US" sz="300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αₓ = 0, βₓ = 8.0 м</a:t>
            </a:r>
            <a:endParaRPr b="0" i="0" sz="3000" u="none" cap="none" strike="noStrike"/>
          </a:p>
          <a:p>
            <a:pPr indent="-422275" lvl="0" marL="342900" marR="0" rtl="1" algn="ctr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3000"/>
              <a:buFont typeface="Source Sans 3"/>
              <a:buChar char="•"/>
            </a:pPr>
            <a:r>
              <a:rPr b="0" i="0" lang="en-US" sz="300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αᵧ = 0, βᵧ = 4.0 м</a:t>
            </a:r>
            <a:endParaRPr b="0" i="0" sz="3000" u="none" cap="none" strike="noStrike"/>
          </a:p>
        </p:txBody>
      </p:sp>
      <p:sp>
        <p:nvSpPr>
          <p:cNvPr id="68" name="Google Shape;68;p13"/>
          <p:cNvSpPr/>
          <p:nvPr/>
        </p:nvSpPr>
        <p:spPr>
          <a:xfrm>
            <a:off x="12770700" y="7757625"/>
            <a:ext cx="1764600" cy="38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11467125" y="5226125"/>
            <a:ext cx="1764600" cy="98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4885950" y="5226125"/>
            <a:ext cx="1764600" cy="111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" name="Google Shape;71;p13"/>
          <p:cNvGrpSpPr/>
          <p:nvPr/>
        </p:nvGrpSpPr>
        <p:grpSpPr>
          <a:xfrm rot="10800000">
            <a:off x="783312" y="1804630"/>
            <a:ext cx="4354592" cy="895231"/>
            <a:chOff x="783312" y="1804630"/>
            <a:chExt cx="4354592" cy="895231"/>
          </a:xfrm>
        </p:grpSpPr>
        <p:pic>
          <p:nvPicPr>
            <p:cNvPr descr="preencoded.png" id="72" name="Google Shape;7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3312" y="1804630"/>
              <a:ext cx="4354592" cy="895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" name="Google Shape;73;p13"/>
            <p:cNvSpPr/>
            <p:nvPr/>
          </p:nvSpPr>
          <p:spPr>
            <a:xfrm>
              <a:off x="2802500" y="2105600"/>
              <a:ext cx="355800" cy="346500"/>
            </a:xfrm>
            <a:prstGeom prst="rect">
              <a:avLst/>
            </a:prstGeom>
            <a:solidFill>
              <a:srgbClr val="EAD6F5"/>
            </a:solidFill>
            <a:ln cap="flat" cmpd="sng" w="9525">
              <a:solidFill>
                <a:srgbClr val="EAD6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" name="Google Shape;74;p13"/>
          <p:cNvGrpSpPr/>
          <p:nvPr/>
        </p:nvGrpSpPr>
        <p:grpSpPr>
          <a:xfrm rot="10800000">
            <a:off x="5361637" y="1804530"/>
            <a:ext cx="4354592" cy="895231"/>
            <a:chOff x="783312" y="1804630"/>
            <a:chExt cx="4354592" cy="895231"/>
          </a:xfrm>
        </p:grpSpPr>
        <p:pic>
          <p:nvPicPr>
            <p:cNvPr descr="preencoded.png" id="75" name="Google Shape;7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3312" y="1804630"/>
              <a:ext cx="4354592" cy="895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13"/>
            <p:cNvSpPr/>
            <p:nvPr/>
          </p:nvSpPr>
          <p:spPr>
            <a:xfrm>
              <a:off x="2802500" y="2105600"/>
              <a:ext cx="355800" cy="346500"/>
            </a:xfrm>
            <a:prstGeom prst="rect">
              <a:avLst/>
            </a:prstGeom>
            <a:solidFill>
              <a:srgbClr val="EAD6F5"/>
            </a:solidFill>
            <a:ln cap="flat" cmpd="sng" w="9525">
              <a:solidFill>
                <a:srgbClr val="EAD6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" name="Google Shape;77;p13"/>
          <p:cNvGrpSpPr/>
          <p:nvPr/>
        </p:nvGrpSpPr>
        <p:grpSpPr>
          <a:xfrm rot="10800000">
            <a:off x="10059087" y="1804530"/>
            <a:ext cx="4354592" cy="895231"/>
            <a:chOff x="783312" y="1804630"/>
            <a:chExt cx="4354592" cy="895231"/>
          </a:xfrm>
        </p:grpSpPr>
        <p:pic>
          <p:nvPicPr>
            <p:cNvPr descr="preencoded.png" id="78" name="Google Shape;78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3312" y="1804630"/>
              <a:ext cx="4354592" cy="895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13"/>
            <p:cNvSpPr/>
            <p:nvPr/>
          </p:nvSpPr>
          <p:spPr>
            <a:xfrm>
              <a:off x="2802500" y="2105600"/>
              <a:ext cx="355800" cy="346500"/>
            </a:xfrm>
            <a:prstGeom prst="rect">
              <a:avLst/>
            </a:prstGeom>
            <a:solidFill>
              <a:srgbClr val="EAD6F5"/>
            </a:solidFill>
            <a:ln cap="flat" cmpd="sng" w="9525">
              <a:solidFill>
                <a:srgbClr val="EAD6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3"/>
          <p:cNvSpPr/>
          <p:nvPr/>
        </p:nvSpPr>
        <p:spPr>
          <a:xfrm>
            <a:off x="10830055" y="1851642"/>
            <a:ext cx="2633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Source Serif 4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Бустер</a:t>
            </a:r>
            <a:endParaRPr b="0" i="0" sz="2050" u="none" cap="none" strike="noStrike"/>
          </a:p>
        </p:txBody>
      </p:sp>
      <p:sp>
        <p:nvSpPr>
          <p:cNvPr id="81" name="Google Shape;81;p13"/>
          <p:cNvSpPr/>
          <p:nvPr/>
        </p:nvSpPr>
        <p:spPr>
          <a:xfrm>
            <a:off x="10282781" y="2306342"/>
            <a:ext cx="3907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ans 3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Целевые параметры</a:t>
            </a:r>
            <a:endParaRPr b="0" i="0" sz="1750" u="none" cap="none" strike="noStrike"/>
          </a:p>
        </p:txBody>
      </p:sp>
      <p:sp>
        <p:nvSpPr>
          <p:cNvPr id="82" name="Google Shape;82;p13"/>
          <p:cNvSpPr/>
          <p:nvPr/>
        </p:nvSpPr>
        <p:spPr>
          <a:xfrm>
            <a:off x="6206178" y="1851542"/>
            <a:ext cx="294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Source Serif 4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Триплет квадруполей</a:t>
            </a:r>
            <a:endParaRPr b="0" i="0" sz="2050" u="none" cap="none" strike="noStrike"/>
          </a:p>
        </p:txBody>
      </p:sp>
      <p:sp>
        <p:nvSpPr>
          <p:cNvPr id="83" name="Google Shape;83;p13"/>
          <p:cNvSpPr/>
          <p:nvPr/>
        </p:nvSpPr>
        <p:spPr>
          <a:xfrm>
            <a:off x="5585323" y="2306242"/>
            <a:ext cx="3907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ans 3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Преобразование</a:t>
            </a:r>
            <a:endParaRPr b="0" i="0" sz="1750" u="none" cap="none" strike="noStrike"/>
          </a:p>
        </p:txBody>
      </p:sp>
      <p:sp>
        <p:nvSpPr>
          <p:cNvPr id="84" name="Google Shape;84;p13"/>
          <p:cNvSpPr/>
          <p:nvPr/>
        </p:nvSpPr>
        <p:spPr>
          <a:xfrm>
            <a:off x="1606639" y="1830704"/>
            <a:ext cx="3045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Source Serif 4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Линейный ускоритель</a:t>
            </a:r>
            <a:endParaRPr b="0" i="0" sz="2050" u="none" cap="none" strike="noStrike"/>
          </a:p>
        </p:txBody>
      </p:sp>
      <p:sp>
        <p:nvSpPr>
          <p:cNvPr id="85" name="Google Shape;85;p13"/>
          <p:cNvSpPr/>
          <p:nvPr/>
        </p:nvSpPr>
        <p:spPr>
          <a:xfrm>
            <a:off x="1175864" y="2327254"/>
            <a:ext cx="3907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ans 3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Начальные параметры пучка</a:t>
            </a:r>
            <a:endParaRPr b="0" i="0" sz="1750" u="none" cap="none" strike="noStrike"/>
          </a:p>
        </p:txBody>
      </p:sp>
      <p:sp>
        <p:nvSpPr>
          <p:cNvPr id="86" name="Google Shape;86;p13"/>
          <p:cNvSpPr/>
          <p:nvPr/>
        </p:nvSpPr>
        <p:spPr>
          <a:xfrm>
            <a:off x="12" y="2135944"/>
            <a:ext cx="13063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1133594" y="752237"/>
            <a:ext cx="4479369" cy="559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Source Serif 4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Инструментарий</a:t>
            </a:r>
            <a:endParaRPr b="0" i="0" sz="3500" u="none" cap="none" strike="noStrike"/>
          </a:p>
        </p:txBody>
      </p:sp>
      <p:sp>
        <p:nvSpPr>
          <p:cNvPr id="93" name="Google Shape;93;p14"/>
          <p:cNvSpPr/>
          <p:nvPr/>
        </p:nvSpPr>
        <p:spPr>
          <a:xfrm>
            <a:off x="1133594" y="1614845"/>
            <a:ext cx="6105882" cy="2035493"/>
          </a:xfrm>
          <a:prstGeom prst="roundRect">
            <a:avLst>
              <a:gd fmla="val 3928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1331476" y="1812727"/>
            <a:ext cx="571024" cy="571024"/>
          </a:xfrm>
          <a:prstGeom prst="roundRect">
            <a:avLst>
              <a:gd fmla="val 16011736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8519" y="1969770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1331476" y="2535079"/>
            <a:ext cx="2239685" cy="27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Python / NumPy</a:t>
            </a:r>
            <a:endParaRPr b="0" i="0" sz="1750" u="none" cap="none" strike="noStrike"/>
          </a:p>
        </p:txBody>
      </p:sp>
      <p:sp>
        <p:nvSpPr>
          <p:cNvPr id="97" name="Google Shape;97;p14"/>
          <p:cNvSpPr/>
          <p:nvPr/>
        </p:nvSpPr>
        <p:spPr>
          <a:xfrm>
            <a:off x="1331476" y="2905720"/>
            <a:ext cx="5710118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Матричные вычисления, оптика толстых линз</a:t>
            </a:r>
            <a:endParaRPr b="0" i="0" sz="1450" u="none" cap="none" strike="noStrike"/>
          </a:p>
        </p:txBody>
      </p:sp>
      <p:sp>
        <p:nvSpPr>
          <p:cNvPr id="98" name="Google Shape;98;p14"/>
          <p:cNvSpPr/>
          <p:nvPr/>
        </p:nvSpPr>
        <p:spPr>
          <a:xfrm>
            <a:off x="7390805" y="1614845"/>
            <a:ext cx="6106001" cy="2035493"/>
          </a:xfrm>
          <a:prstGeom prst="roundRect">
            <a:avLst>
              <a:gd fmla="val 3928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588687" y="1812727"/>
            <a:ext cx="571024" cy="571024"/>
          </a:xfrm>
          <a:prstGeom prst="roundRect">
            <a:avLst>
              <a:gd fmla="val 16011736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45730" y="1969770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7588687" y="2535079"/>
            <a:ext cx="2239685" cy="27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SciPy</a:t>
            </a:r>
            <a:endParaRPr b="0" i="0" sz="1750" u="none" cap="none" strike="noStrike"/>
          </a:p>
        </p:txBody>
      </p:sp>
      <p:sp>
        <p:nvSpPr>
          <p:cNvPr id="102" name="Google Shape;102;p14"/>
          <p:cNvSpPr/>
          <p:nvPr/>
        </p:nvSpPr>
        <p:spPr>
          <a:xfrm>
            <a:off x="7588687" y="2905720"/>
            <a:ext cx="5710237" cy="546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Глобальная и локальная оптимизация (дифференциальная эволюция, BFGS)</a:t>
            </a:r>
            <a:endParaRPr b="0" i="0" sz="1450" u="none" cap="none" strike="noStrike"/>
          </a:p>
        </p:txBody>
      </p:sp>
      <p:sp>
        <p:nvSpPr>
          <p:cNvPr id="103" name="Google Shape;103;p14"/>
          <p:cNvSpPr/>
          <p:nvPr/>
        </p:nvSpPr>
        <p:spPr>
          <a:xfrm>
            <a:off x="1133594" y="3801666"/>
            <a:ext cx="6105882" cy="1762125"/>
          </a:xfrm>
          <a:prstGeom prst="roundRect">
            <a:avLst>
              <a:gd fmla="val 4538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1331476" y="3999548"/>
            <a:ext cx="571024" cy="571024"/>
          </a:xfrm>
          <a:prstGeom prst="roundRect">
            <a:avLst>
              <a:gd fmla="val 16011736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8519" y="4156591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/>
          <p:nvPr/>
        </p:nvSpPr>
        <p:spPr>
          <a:xfrm>
            <a:off x="1331476" y="4721900"/>
            <a:ext cx="2239685" cy="27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Matplotlib</a:t>
            </a:r>
            <a:endParaRPr b="0" i="0" sz="1750" u="none" cap="none" strike="noStrike"/>
          </a:p>
        </p:txBody>
      </p:sp>
      <p:sp>
        <p:nvSpPr>
          <p:cNvPr id="107" name="Google Shape;107;p14"/>
          <p:cNvSpPr/>
          <p:nvPr/>
        </p:nvSpPr>
        <p:spPr>
          <a:xfrm>
            <a:off x="1331476" y="5092541"/>
            <a:ext cx="5710118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Визуализация огибающих пучка</a:t>
            </a:r>
            <a:endParaRPr b="0" i="0" sz="1450" u="none" cap="none" strike="noStrike"/>
          </a:p>
        </p:txBody>
      </p:sp>
      <p:sp>
        <p:nvSpPr>
          <p:cNvPr id="108" name="Google Shape;108;p14"/>
          <p:cNvSpPr/>
          <p:nvPr/>
        </p:nvSpPr>
        <p:spPr>
          <a:xfrm>
            <a:off x="7390805" y="3801666"/>
            <a:ext cx="6106001" cy="1762125"/>
          </a:xfrm>
          <a:prstGeom prst="roundRect">
            <a:avLst>
              <a:gd fmla="val 4538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7588687" y="3999548"/>
            <a:ext cx="571024" cy="571024"/>
          </a:xfrm>
          <a:prstGeom prst="roundRect">
            <a:avLst>
              <a:gd fmla="val 16011736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45730" y="4156591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/>
          <p:nvPr/>
        </p:nvSpPr>
        <p:spPr>
          <a:xfrm>
            <a:off x="7588687" y="4721900"/>
            <a:ext cx="2239685" cy="27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Собственный код</a:t>
            </a:r>
            <a:endParaRPr b="0" i="0" sz="1750" u="none" cap="none" strike="noStrike"/>
          </a:p>
        </p:txBody>
      </p:sp>
      <p:sp>
        <p:nvSpPr>
          <p:cNvPr id="112" name="Google Shape;112;p14"/>
          <p:cNvSpPr/>
          <p:nvPr/>
        </p:nvSpPr>
        <p:spPr>
          <a:xfrm>
            <a:off x="7588687" y="5092541"/>
            <a:ext cx="5710237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Моделирование триплета, расчёт параметров Твисса</a:t>
            </a:r>
            <a:endParaRPr b="0" i="0" sz="1450" u="none" cap="none" strike="noStrike"/>
          </a:p>
        </p:txBody>
      </p:sp>
      <p:sp>
        <p:nvSpPr>
          <p:cNvPr id="113" name="Google Shape;113;p14"/>
          <p:cNvSpPr/>
          <p:nvPr/>
        </p:nvSpPr>
        <p:spPr>
          <a:xfrm>
            <a:off x="1133594" y="5715119"/>
            <a:ext cx="6105882" cy="1762125"/>
          </a:xfrm>
          <a:prstGeom prst="roundRect">
            <a:avLst>
              <a:gd fmla="val 4538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1331476" y="5913001"/>
            <a:ext cx="571024" cy="571024"/>
          </a:xfrm>
          <a:prstGeom prst="roundRect">
            <a:avLst>
              <a:gd fmla="val 16011736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88519" y="6070044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/>
        </p:nvSpPr>
        <p:spPr>
          <a:xfrm>
            <a:off x="1331414" y="6605066"/>
            <a:ext cx="22398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ИИ</a:t>
            </a:r>
            <a:endParaRPr sz="1750">
              <a:solidFill>
                <a:srgbClr val="27252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t/>
            </a:r>
            <a:endParaRPr sz="1750">
              <a:solidFill>
                <a:srgbClr val="27252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331439" y="7006020"/>
            <a:ext cx="57102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lang="en-US" sz="14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Использованы крупные модели для систематизации и структуры</a:t>
            </a:r>
            <a:endParaRPr b="0" i="0" sz="1450" u="none" cap="none" strike="noStrike"/>
          </a:p>
        </p:txBody>
      </p:sp>
      <p:sp>
        <p:nvSpPr>
          <p:cNvPr id="118" name="Google Shape;118;p14"/>
          <p:cNvSpPr/>
          <p:nvPr/>
        </p:nvSpPr>
        <p:spPr>
          <a:xfrm>
            <a:off x="7390805" y="5715119"/>
            <a:ext cx="6106001" cy="1762125"/>
          </a:xfrm>
          <a:prstGeom prst="roundRect">
            <a:avLst>
              <a:gd fmla="val 4538" name="adj"/>
            </a:avLst>
          </a:prstGeom>
          <a:solidFill>
            <a:srgbClr val="F0D4F7"/>
          </a:solidFill>
          <a:ln cap="flat" cmpd="sng" w="952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7588687" y="5913001"/>
            <a:ext cx="571024" cy="571024"/>
          </a:xfrm>
          <a:prstGeom prst="roundRect">
            <a:avLst>
              <a:gd fmla="val 16011736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45730" y="6070044"/>
            <a:ext cx="256937" cy="25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7588687" y="6635353"/>
            <a:ext cx="2239685" cy="27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Source Serif 4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Google colab</a:t>
            </a:r>
            <a:endParaRPr b="0" i="0" sz="1750" u="none" cap="none" strike="noStrike"/>
          </a:p>
        </p:txBody>
      </p:sp>
      <p:sp>
        <p:nvSpPr>
          <p:cNvPr id="122" name="Google Shape;122;p14"/>
          <p:cNvSpPr/>
          <p:nvPr/>
        </p:nvSpPr>
        <p:spPr>
          <a:xfrm>
            <a:off x="7588687" y="7005995"/>
            <a:ext cx="5710237" cy="273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Совместное написание кода</a:t>
            </a:r>
            <a:endParaRPr b="0" i="0" sz="1450" u="none" cap="none" strike="noStrike"/>
          </a:p>
        </p:txBody>
      </p:sp>
      <p:sp>
        <p:nvSpPr>
          <p:cNvPr id="123" name="Google Shape;123;p14"/>
          <p:cNvSpPr/>
          <p:nvPr/>
        </p:nvSpPr>
        <p:spPr>
          <a:xfrm>
            <a:off x="12800775" y="7737500"/>
            <a:ext cx="1764600" cy="38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/>
          <p:nvPr/>
        </p:nvSpPr>
        <p:spPr>
          <a:xfrm>
            <a:off x="747117" y="908447"/>
            <a:ext cx="5496163" cy="627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50"/>
              <a:buFont typeface="Source Serif 4"/>
              <a:buNone/>
            </a:pPr>
            <a:r>
              <a:rPr b="0" i="0" lang="en-US" sz="395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Как искали решение?</a:t>
            </a:r>
            <a:endParaRPr b="0" i="0" sz="3950" u="none" cap="none" strike="noStrike"/>
          </a:p>
        </p:txBody>
      </p:sp>
      <p:sp>
        <p:nvSpPr>
          <p:cNvPr id="130" name="Google Shape;130;p15"/>
          <p:cNvSpPr/>
          <p:nvPr/>
        </p:nvSpPr>
        <p:spPr>
          <a:xfrm>
            <a:off x="747117" y="2012156"/>
            <a:ext cx="30138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Source Serif 4"/>
              <a:buNone/>
            </a:pPr>
            <a:r>
              <a:rPr b="0" i="0" lang="en-US" sz="235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</a:t>
            </a:r>
            <a:r>
              <a:rPr b="0" i="0" lang="en-US" sz="235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роблема</a:t>
            </a:r>
            <a:endParaRPr b="0" i="0" sz="2350" u="none" cap="none" strike="noStrike"/>
          </a:p>
        </p:txBody>
      </p:sp>
      <p:sp>
        <p:nvSpPr>
          <p:cNvPr id="131" name="Google Shape;131;p15"/>
          <p:cNvSpPr/>
          <p:nvPr/>
        </p:nvSpPr>
        <p:spPr>
          <a:xfrm>
            <a:off x="747117" y="3005370"/>
            <a:ext cx="40311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Обычный перебор </a:t>
            </a:r>
            <a:r>
              <a:rPr lang="en-US" sz="16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малоэффективен в данной задаче</a:t>
            </a:r>
            <a:endParaRPr sz="165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t/>
            </a:r>
            <a:endParaRPr sz="165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4898935" y="2012156"/>
            <a:ext cx="40311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Source Serif 4"/>
              <a:buNone/>
            </a:pPr>
            <a:r>
              <a:rPr b="0" i="0" lang="en-US" sz="235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Первая идея - облегчить подбор</a:t>
            </a:r>
            <a:endParaRPr b="0" i="0" sz="2350" u="none" cap="none" strike="noStrike"/>
          </a:p>
        </p:txBody>
      </p:sp>
      <p:sp>
        <p:nvSpPr>
          <p:cNvPr id="133" name="Google Shape;133;p15"/>
          <p:cNvSpPr/>
          <p:nvPr/>
        </p:nvSpPr>
        <p:spPr>
          <a:xfrm>
            <a:off x="4898935" y="2955727"/>
            <a:ext cx="40311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Для этого использовалась аппроксимация магнитов к тонким линзам</a:t>
            </a:r>
            <a:r>
              <a:rPr lang="en-US" sz="16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b="0" i="0" sz="1650" u="none" cap="none" strike="noStrike"/>
          </a:p>
        </p:txBody>
      </p:sp>
      <p:sp>
        <p:nvSpPr>
          <p:cNvPr id="134" name="Google Shape;134;p15"/>
          <p:cNvSpPr/>
          <p:nvPr/>
        </p:nvSpPr>
        <p:spPr>
          <a:xfrm>
            <a:off x="12800775" y="7774050"/>
            <a:ext cx="1764600" cy="38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126" y="4268025"/>
            <a:ext cx="13218626" cy="362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/>
          <p:nvPr/>
        </p:nvSpPr>
        <p:spPr>
          <a:xfrm>
            <a:off x="9934660" y="2012156"/>
            <a:ext cx="40311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Source Serif 4"/>
              <a:buNone/>
            </a:pPr>
            <a:r>
              <a:rPr lang="en-US" sz="2350">
                <a:latin typeface="Source Serif 4"/>
                <a:ea typeface="Source Serif 4"/>
                <a:cs typeface="Source Serif 4"/>
                <a:sym typeface="Source Serif 4"/>
              </a:rPr>
              <a:t>Визуализация</a:t>
            </a:r>
            <a:endParaRPr b="0" i="0" sz="2350" u="none" cap="none" strike="noStrike"/>
          </a:p>
        </p:txBody>
      </p:sp>
      <p:sp>
        <p:nvSpPr>
          <p:cNvPr id="137" name="Google Shape;137;p15"/>
          <p:cNvSpPr/>
          <p:nvPr/>
        </p:nvSpPr>
        <p:spPr>
          <a:xfrm>
            <a:off x="9934660" y="2955727"/>
            <a:ext cx="40311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Применялись методы из инструментария Jupyter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238" y="1808620"/>
            <a:ext cx="13995923" cy="38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/>
          <p:nvPr/>
        </p:nvSpPr>
        <p:spPr>
          <a:xfrm>
            <a:off x="12800775" y="7774050"/>
            <a:ext cx="1764600" cy="38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237250" y="353174"/>
            <a:ext cx="14076000" cy="1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Данные пучка после прохождения триплета из тонких линз и значения конфигурации линз и дрейфов</a:t>
            </a:r>
            <a:endParaRPr sz="3100">
              <a:solidFill>
                <a:schemeClr val="dk1"/>
              </a:solidFill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607950" y="5464175"/>
            <a:ext cx="1070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rgbClr val="F0F6FC"/>
              </a:solidFill>
              <a:highlight>
                <a:srgbClr val="0D1117"/>
              </a:highlight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0" y="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rgbClr val="F0F6FC"/>
              </a:solidFill>
              <a:highlight>
                <a:srgbClr val="0D1117"/>
              </a:highlight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481500" y="5716096"/>
            <a:ext cx="6737100" cy="22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Конфигурация </a:t>
            </a:r>
            <a:br>
              <a:rPr lang="en-US" sz="24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-US" sz="24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Длина дрейфов: 1.395 → 1.512 → 0.958 → 0.596 м </a:t>
            </a:r>
            <a:br>
              <a:rPr lang="en-US" sz="24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-US" sz="24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Квадруполи: f1=+3.2641, f2=-1.6571, f3=+2.9923 м</a:t>
            </a:r>
            <a:endParaRPr sz="240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7383125" y="5772471"/>
            <a:ext cx="6930000" cy="2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Конечные параметры: </a:t>
            </a:r>
            <a:endParaRPr b="1" sz="240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X: β = 8.001954 м, α = +0.000715 </a:t>
            </a:r>
            <a:endParaRPr sz="2400">
              <a:solidFill>
                <a:srgbClr val="272525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Y: β = 3.999679 м, α = +0.001274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/>
          <p:nvPr/>
        </p:nvSpPr>
        <p:spPr>
          <a:xfrm>
            <a:off x="1061926" y="425531"/>
            <a:ext cx="30138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Source Serif 4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Решение</a:t>
            </a:r>
            <a:endParaRPr b="1" i="0" sz="3100" u="none" cap="none" strike="noStrike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12800775" y="7774050"/>
            <a:ext cx="1764600" cy="38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179076" y="2118782"/>
            <a:ext cx="403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Гибридный алгоритм оптимизации</a:t>
            </a:r>
            <a:endParaRPr b="0" i="0" sz="1650" u="none" cap="none" strike="noStrike"/>
          </a:p>
        </p:txBody>
      </p:sp>
      <p:sp>
        <p:nvSpPr>
          <p:cNvPr id="159" name="Google Shape;159;p17"/>
          <p:cNvSpPr/>
          <p:nvPr/>
        </p:nvSpPr>
        <p:spPr>
          <a:xfrm>
            <a:off x="179069" y="2588427"/>
            <a:ext cx="2511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Source Serif 4"/>
              <a:buNone/>
            </a:pPr>
            <a:r>
              <a:rPr b="1" i="0" lang="en-US" sz="195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Глобальный поиск</a:t>
            </a:r>
            <a:endParaRPr b="1" i="0" sz="1950" u="none" cap="none" strike="noStrike"/>
          </a:p>
        </p:txBody>
      </p:sp>
      <p:sp>
        <p:nvSpPr>
          <p:cNvPr id="160" name="Google Shape;160;p17"/>
          <p:cNvSpPr/>
          <p:nvPr/>
        </p:nvSpPr>
        <p:spPr>
          <a:xfrm>
            <a:off x="179069" y="3092657"/>
            <a:ext cx="32001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Дифференциальная эволюция — поиск области глобального минимума</a:t>
            </a:r>
            <a:endParaRPr b="0" i="0" sz="1650" u="none" cap="none" strike="noStrike"/>
          </a:p>
        </p:txBody>
      </p:sp>
      <p:sp>
        <p:nvSpPr>
          <p:cNvPr id="161" name="Google Shape;161;p17"/>
          <p:cNvSpPr/>
          <p:nvPr/>
        </p:nvSpPr>
        <p:spPr>
          <a:xfrm>
            <a:off x="245850" y="4252074"/>
            <a:ext cx="3069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Source Serif 4"/>
              <a:buNone/>
            </a:pPr>
            <a:r>
              <a:rPr b="1" i="0" lang="en-US" sz="195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Локальное</a:t>
            </a:r>
            <a:r>
              <a:rPr b="0" i="0" lang="en-US" sz="195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b="1" i="0" lang="en-US" sz="195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уточнение</a:t>
            </a:r>
            <a:endParaRPr b="1" i="0" sz="1950" u="none" cap="none" strike="noStrike"/>
          </a:p>
        </p:txBody>
      </p:sp>
      <p:sp>
        <p:nvSpPr>
          <p:cNvPr id="162" name="Google Shape;162;p17"/>
          <p:cNvSpPr/>
          <p:nvPr/>
        </p:nvSpPr>
        <p:spPr>
          <a:xfrm>
            <a:off x="202053" y="4756288"/>
            <a:ext cx="28800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Метод BFGS — быстрая сходимость к точному решению</a:t>
            </a:r>
            <a:endParaRPr b="0" i="0" sz="1650" u="none" cap="none" strike="noStrike"/>
          </a:p>
        </p:txBody>
      </p:sp>
      <p:sp>
        <p:nvSpPr>
          <p:cNvPr id="163" name="Google Shape;163;p17"/>
          <p:cNvSpPr/>
          <p:nvPr/>
        </p:nvSpPr>
        <p:spPr>
          <a:xfrm>
            <a:off x="735876" y="1144907"/>
            <a:ext cx="403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t/>
            </a:r>
            <a:endParaRPr b="0" i="0" sz="1650" u="none" cap="none" strike="noStrike"/>
          </a:p>
        </p:txBody>
      </p:sp>
      <p:sp>
        <p:nvSpPr>
          <p:cNvPr id="164" name="Google Shape;164;p17"/>
          <p:cNvSpPr/>
          <p:nvPr/>
        </p:nvSpPr>
        <p:spPr>
          <a:xfrm>
            <a:off x="179069" y="1144907"/>
            <a:ext cx="32001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Source Sans 3"/>
              <a:buNone/>
            </a:pPr>
            <a:r>
              <a:rPr lang="en-US" sz="16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Расчёт с учетом толстых линз - увеличение реализма</a:t>
            </a:r>
            <a:endParaRPr b="0" i="0" sz="1650" u="none" cap="none" strike="noStrike"/>
          </a:p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3">
            <a:alphaModFix/>
          </a:blip>
          <a:srcRect b="20439" l="0" r="33039" t="0"/>
          <a:stretch/>
        </p:blipFill>
        <p:spPr>
          <a:xfrm>
            <a:off x="3529075" y="357175"/>
            <a:ext cx="11036299" cy="7436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58932" l="66717" r="0" t="0"/>
          <a:stretch/>
        </p:blipFill>
        <p:spPr>
          <a:xfrm>
            <a:off x="971125" y="1646238"/>
            <a:ext cx="6843302" cy="478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70975" r="15902" t="41871"/>
          <a:stretch/>
        </p:blipFill>
        <p:spPr>
          <a:xfrm>
            <a:off x="9448176" y="104776"/>
            <a:ext cx="2713551" cy="681717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/>
          <p:nvPr/>
        </p:nvSpPr>
        <p:spPr>
          <a:xfrm>
            <a:off x="8752716" y="6517346"/>
            <a:ext cx="86694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Source Serif 4"/>
              <a:buNone/>
            </a:pPr>
            <a:br>
              <a:rPr lang="en-US" sz="2350"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n-US" sz="2350">
                <a:latin typeface="Source Serif 4"/>
                <a:ea typeface="Source Serif 4"/>
                <a:cs typeface="Source Serif 4"/>
                <a:sym typeface="Source Serif 4"/>
              </a:rPr>
              <a:t>Итоговая структура системы</a:t>
            </a:r>
            <a:endParaRPr b="0" i="0" sz="2350" u="none" cap="none" strike="noStrike"/>
          </a:p>
        </p:txBody>
      </p:sp>
      <p:sp>
        <p:nvSpPr>
          <p:cNvPr id="174" name="Google Shape;174;p18"/>
          <p:cNvSpPr txBox="1"/>
          <p:nvPr/>
        </p:nvSpPr>
        <p:spPr>
          <a:xfrm>
            <a:off x="635063" y="6287125"/>
            <a:ext cx="90600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Размеры пучка по мере прохождения через систему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12781825" y="7547500"/>
            <a:ext cx="1848600" cy="68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71048" r="16212" t="42716"/>
          <a:stretch/>
        </p:blipFill>
        <p:spPr>
          <a:xfrm>
            <a:off x="11258700" y="104775"/>
            <a:ext cx="2713551" cy="6920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/>
          <p:nvPr/>
        </p:nvSpPr>
        <p:spPr>
          <a:xfrm>
            <a:off x="2322135" y="803675"/>
            <a:ext cx="99861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Оптимальная геометрия триплета</a:t>
            </a:r>
            <a:endParaRPr b="0" i="0" sz="4400" u="none" cap="none" strike="noStrike"/>
          </a:p>
        </p:txBody>
      </p:sp>
      <p:sp>
        <p:nvSpPr>
          <p:cNvPr id="183" name="Google Shape;183;p19"/>
          <p:cNvSpPr/>
          <p:nvPr/>
        </p:nvSpPr>
        <p:spPr>
          <a:xfrm>
            <a:off x="837724" y="1956792"/>
            <a:ext cx="12954952" cy="5498783"/>
          </a:xfrm>
          <a:prstGeom prst="roundRect">
            <a:avLst>
              <a:gd fmla="val 1828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845344" y="1964412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-733516" y="2115547"/>
            <a:ext cx="27525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1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Элемент</a:t>
            </a:r>
            <a:endParaRPr b="0" i="0" sz="1850" u="none" cap="none" strike="noStrike"/>
          </a:p>
        </p:txBody>
      </p:sp>
      <p:sp>
        <p:nvSpPr>
          <p:cNvPr id="186" name="Google Shape;186;p19"/>
          <p:cNvSpPr/>
          <p:nvPr/>
        </p:nvSpPr>
        <p:spPr>
          <a:xfrm>
            <a:off x="4323398" y="2115622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1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Длина L, м</a:t>
            </a:r>
            <a:endParaRPr b="0" i="0" sz="1850" u="none" cap="none" strike="noStrike"/>
          </a:p>
        </p:txBody>
      </p:sp>
      <p:sp>
        <p:nvSpPr>
          <p:cNvPr id="187" name="Google Shape;187;p19"/>
          <p:cNvSpPr/>
          <p:nvPr/>
        </p:nvSpPr>
        <p:spPr>
          <a:xfrm>
            <a:off x="7558326" y="2115622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1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Сила k, м⁻²</a:t>
            </a:r>
            <a:endParaRPr b="0" i="0" sz="1850" u="none" cap="none" strike="noStrike"/>
          </a:p>
        </p:txBody>
      </p:sp>
      <p:sp>
        <p:nvSpPr>
          <p:cNvPr id="188" name="Google Shape;188;p19"/>
          <p:cNvSpPr/>
          <p:nvPr/>
        </p:nvSpPr>
        <p:spPr>
          <a:xfrm>
            <a:off x="10793254" y="2115622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1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Тип</a:t>
            </a:r>
            <a:endParaRPr b="0" i="0" sz="1850" u="none" cap="none" strike="noStrike"/>
          </a:p>
        </p:txBody>
      </p:sp>
      <p:sp>
        <p:nvSpPr>
          <p:cNvPr id="189" name="Google Shape;189;p19"/>
          <p:cNvSpPr/>
          <p:nvPr/>
        </p:nvSpPr>
        <p:spPr>
          <a:xfrm>
            <a:off x="845344" y="2649855"/>
            <a:ext cx="12939713" cy="68544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1084659" y="2801064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Дрейф вх.</a:t>
            </a:r>
            <a:endParaRPr b="0" i="0" sz="1850" u="none" cap="none" strike="noStrike"/>
          </a:p>
        </p:txBody>
      </p:sp>
      <p:sp>
        <p:nvSpPr>
          <p:cNvPr id="191" name="Google Shape;191;p19"/>
          <p:cNvSpPr/>
          <p:nvPr/>
        </p:nvSpPr>
        <p:spPr>
          <a:xfrm>
            <a:off x="4323398" y="2801064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0.618</a:t>
            </a:r>
            <a:endParaRPr b="0" i="0" sz="1850" u="none" cap="none" strike="noStrike"/>
          </a:p>
        </p:txBody>
      </p:sp>
      <p:sp>
        <p:nvSpPr>
          <p:cNvPr id="192" name="Google Shape;192;p19"/>
          <p:cNvSpPr/>
          <p:nvPr/>
        </p:nvSpPr>
        <p:spPr>
          <a:xfrm>
            <a:off x="7558326" y="2801064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b="0" i="0" sz="1850" u="none" cap="none" strike="noStrike"/>
          </a:p>
        </p:txBody>
      </p:sp>
      <p:sp>
        <p:nvSpPr>
          <p:cNvPr id="193" name="Google Shape;193;p19"/>
          <p:cNvSpPr/>
          <p:nvPr/>
        </p:nvSpPr>
        <p:spPr>
          <a:xfrm>
            <a:off x="10793254" y="2801064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b="0" i="0" sz="1850" u="none" cap="none" strike="noStrike"/>
          </a:p>
        </p:txBody>
      </p:sp>
      <p:sp>
        <p:nvSpPr>
          <p:cNvPr id="194" name="Google Shape;194;p19"/>
          <p:cNvSpPr/>
          <p:nvPr/>
        </p:nvSpPr>
        <p:spPr>
          <a:xfrm>
            <a:off x="845344" y="3335298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1084659" y="3486507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Q1</a:t>
            </a:r>
            <a:endParaRPr b="0" i="0" sz="1850" u="none" cap="none" strike="noStrike"/>
          </a:p>
        </p:txBody>
      </p:sp>
      <p:sp>
        <p:nvSpPr>
          <p:cNvPr id="196" name="Google Shape;196;p19"/>
          <p:cNvSpPr/>
          <p:nvPr/>
        </p:nvSpPr>
        <p:spPr>
          <a:xfrm>
            <a:off x="4323398" y="3486507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0.569</a:t>
            </a:r>
            <a:endParaRPr b="0" i="0" sz="1850" u="none" cap="none" strike="noStrike"/>
          </a:p>
        </p:txBody>
      </p:sp>
      <p:sp>
        <p:nvSpPr>
          <p:cNvPr id="197" name="Google Shape;197;p19"/>
          <p:cNvSpPr/>
          <p:nvPr/>
        </p:nvSpPr>
        <p:spPr>
          <a:xfrm>
            <a:off x="7558326" y="3486507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+0.951</a:t>
            </a:r>
            <a:endParaRPr b="0" i="0" sz="1850" u="none" cap="none" strike="noStrike"/>
          </a:p>
        </p:txBody>
      </p:sp>
      <p:sp>
        <p:nvSpPr>
          <p:cNvPr id="198" name="Google Shape;198;p19"/>
          <p:cNvSpPr/>
          <p:nvPr/>
        </p:nvSpPr>
        <p:spPr>
          <a:xfrm>
            <a:off x="10793254" y="3486507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QF (фок. X)</a:t>
            </a:r>
            <a:endParaRPr b="0" i="0" sz="1850" u="none" cap="none" strike="noStrike"/>
          </a:p>
        </p:txBody>
      </p:sp>
      <p:sp>
        <p:nvSpPr>
          <p:cNvPr id="199" name="Google Shape;199;p19"/>
          <p:cNvSpPr/>
          <p:nvPr/>
        </p:nvSpPr>
        <p:spPr>
          <a:xfrm>
            <a:off x="845344" y="4020741"/>
            <a:ext cx="12939713" cy="68544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1084659" y="4171950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Дрейф 1</a:t>
            </a:r>
            <a:endParaRPr b="0" i="0" sz="1850" u="none" cap="none" strike="noStrike"/>
          </a:p>
        </p:txBody>
      </p:sp>
      <p:sp>
        <p:nvSpPr>
          <p:cNvPr id="201" name="Google Shape;201;p19"/>
          <p:cNvSpPr/>
          <p:nvPr/>
        </p:nvSpPr>
        <p:spPr>
          <a:xfrm>
            <a:off x="4323398" y="4171950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1.596</a:t>
            </a:r>
            <a:endParaRPr b="0" i="0" sz="1850" u="none" cap="none" strike="noStrike"/>
          </a:p>
        </p:txBody>
      </p:sp>
      <p:sp>
        <p:nvSpPr>
          <p:cNvPr id="202" name="Google Shape;202;p19"/>
          <p:cNvSpPr/>
          <p:nvPr/>
        </p:nvSpPr>
        <p:spPr>
          <a:xfrm>
            <a:off x="7558326" y="4171950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b="0" i="0" sz="1850" u="none" cap="none" strike="noStrike"/>
          </a:p>
        </p:txBody>
      </p:sp>
      <p:sp>
        <p:nvSpPr>
          <p:cNvPr id="203" name="Google Shape;203;p19"/>
          <p:cNvSpPr/>
          <p:nvPr/>
        </p:nvSpPr>
        <p:spPr>
          <a:xfrm>
            <a:off x="10793254" y="4171950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b="0" i="0" sz="1850" u="none" cap="none" strike="noStrike"/>
          </a:p>
        </p:txBody>
      </p:sp>
      <p:sp>
        <p:nvSpPr>
          <p:cNvPr id="204" name="Google Shape;204;p19"/>
          <p:cNvSpPr/>
          <p:nvPr/>
        </p:nvSpPr>
        <p:spPr>
          <a:xfrm>
            <a:off x="845344" y="4706183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1084659" y="4857393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Q2</a:t>
            </a:r>
            <a:endParaRPr b="0" i="0" sz="1850" u="none" cap="none" strike="noStrike"/>
          </a:p>
        </p:txBody>
      </p:sp>
      <p:sp>
        <p:nvSpPr>
          <p:cNvPr id="206" name="Google Shape;206;p19"/>
          <p:cNvSpPr/>
          <p:nvPr/>
        </p:nvSpPr>
        <p:spPr>
          <a:xfrm>
            <a:off x="4323398" y="4857393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0.870</a:t>
            </a:r>
            <a:endParaRPr b="0" i="0" sz="1850" u="none" cap="none" strike="noStrike"/>
          </a:p>
        </p:txBody>
      </p:sp>
      <p:sp>
        <p:nvSpPr>
          <p:cNvPr id="207" name="Google Shape;207;p19"/>
          <p:cNvSpPr/>
          <p:nvPr/>
        </p:nvSpPr>
        <p:spPr>
          <a:xfrm>
            <a:off x="7558326" y="4857393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-0.732</a:t>
            </a:r>
            <a:endParaRPr b="0" i="0" sz="1850" u="none" cap="none" strike="noStrike"/>
          </a:p>
        </p:txBody>
      </p:sp>
      <p:sp>
        <p:nvSpPr>
          <p:cNvPr id="208" name="Google Shape;208;p19"/>
          <p:cNvSpPr/>
          <p:nvPr/>
        </p:nvSpPr>
        <p:spPr>
          <a:xfrm>
            <a:off x="10793254" y="4857393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QD (фок. Y)</a:t>
            </a:r>
            <a:endParaRPr b="0" i="0" sz="1850" u="none" cap="none" strike="noStrike"/>
          </a:p>
        </p:txBody>
      </p:sp>
      <p:sp>
        <p:nvSpPr>
          <p:cNvPr id="209" name="Google Shape;209;p19"/>
          <p:cNvSpPr/>
          <p:nvPr/>
        </p:nvSpPr>
        <p:spPr>
          <a:xfrm>
            <a:off x="845344" y="5391626"/>
            <a:ext cx="12939713" cy="68544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1084659" y="5542836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Дрейф 2</a:t>
            </a:r>
            <a:endParaRPr b="0" i="0" sz="1850" u="none" cap="none" strike="noStrike"/>
          </a:p>
        </p:txBody>
      </p:sp>
      <p:sp>
        <p:nvSpPr>
          <p:cNvPr id="211" name="Google Shape;211;p19"/>
          <p:cNvSpPr/>
          <p:nvPr/>
        </p:nvSpPr>
        <p:spPr>
          <a:xfrm>
            <a:off x="4323398" y="5542836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1.004</a:t>
            </a:r>
            <a:endParaRPr b="0" i="0" sz="1850" u="none" cap="none" strike="noStrike"/>
          </a:p>
        </p:txBody>
      </p:sp>
      <p:sp>
        <p:nvSpPr>
          <p:cNvPr id="212" name="Google Shape;212;p19"/>
          <p:cNvSpPr/>
          <p:nvPr/>
        </p:nvSpPr>
        <p:spPr>
          <a:xfrm>
            <a:off x="7558326" y="5542836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b="0" i="0" sz="1850" u="none" cap="none" strike="noStrike"/>
          </a:p>
        </p:txBody>
      </p:sp>
      <p:sp>
        <p:nvSpPr>
          <p:cNvPr id="213" name="Google Shape;213;p19"/>
          <p:cNvSpPr/>
          <p:nvPr/>
        </p:nvSpPr>
        <p:spPr>
          <a:xfrm>
            <a:off x="10793254" y="5542836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b="0" i="0" sz="1850" u="none" cap="none" strike="noStrike"/>
          </a:p>
        </p:txBody>
      </p:sp>
      <p:sp>
        <p:nvSpPr>
          <p:cNvPr id="214" name="Google Shape;214;p19"/>
          <p:cNvSpPr/>
          <p:nvPr/>
        </p:nvSpPr>
        <p:spPr>
          <a:xfrm>
            <a:off x="845344" y="6077069"/>
            <a:ext cx="12939713" cy="68544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1084659" y="6228278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Q3</a:t>
            </a:r>
            <a:endParaRPr b="0" i="0" sz="1850" u="none" cap="none" strike="noStrike"/>
          </a:p>
        </p:txBody>
      </p:sp>
      <p:sp>
        <p:nvSpPr>
          <p:cNvPr id="216" name="Google Shape;216;p19"/>
          <p:cNvSpPr/>
          <p:nvPr/>
        </p:nvSpPr>
        <p:spPr>
          <a:xfrm>
            <a:off x="4323398" y="6228278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0.372</a:t>
            </a:r>
            <a:endParaRPr b="0" i="0" sz="1850" u="none" cap="none" strike="noStrike"/>
          </a:p>
        </p:txBody>
      </p:sp>
      <p:sp>
        <p:nvSpPr>
          <p:cNvPr id="217" name="Google Shape;217;p19"/>
          <p:cNvSpPr/>
          <p:nvPr/>
        </p:nvSpPr>
        <p:spPr>
          <a:xfrm>
            <a:off x="7558326" y="6228278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+1.291</a:t>
            </a:r>
            <a:endParaRPr b="0" i="0" sz="1850" u="none" cap="none" strike="noStrike"/>
          </a:p>
        </p:txBody>
      </p:sp>
      <p:sp>
        <p:nvSpPr>
          <p:cNvPr id="218" name="Google Shape;218;p19"/>
          <p:cNvSpPr/>
          <p:nvPr/>
        </p:nvSpPr>
        <p:spPr>
          <a:xfrm>
            <a:off x="10793254" y="6228278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QF (фок. X)</a:t>
            </a:r>
            <a:endParaRPr b="0" i="0" sz="1850" u="none" cap="none" strike="noStrike"/>
          </a:p>
        </p:txBody>
      </p:sp>
      <p:sp>
        <p:nvSpPr>
          <p:cNvPr id="219" name="Google Shape;219;p19"/>
          <p:cNvSpPr/>
          <p:nvPr/>
        </p:nvSpPr>
        <p:spPr>
          <a:xfrm>
            <a:off x="845344" y="6762512"/>
            <a:ext cx="12939713" cy="68544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1084659" y="6913721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Дрейф вых.</a:t>
            </a:r>
            <a:endParaRPr b="0" i="0" sz="1850" u="none" cap="none" strike="noStrike"/>
          </a:p>
        </p:txBody>
      </p:sp>
      <p:sp>
        <p:nvSpPr>
          <p:cNvPr id="221" name="Google Shape;221;p19"/>
          <p:cNvSpPr/>
          <p:nvPr/>
        </p:nvSpPr>
        <p:spPr>
          <a:xfrm>
            <a:off x="4323398" y="6913721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0.720</a:t>
            </a:r>
            <a:endParaRPr b="0" i="0" sz="1850" u="none" cap="none" strike="noStrike"/>
          </a:p>
        </p:txBody>
      </p:sp>
      <p:sp>
        <p:nvSpPr>
          <p:cNvPr id="222" name="Google Shape;222;p19"/>
          <p:cNvSpPr/>
          <p:nvPr/>
        </p:nvSpPr>
        <p:spPr>
          <a:xfrm>
            <a:off x="7558326" y="6913721"/>
            <a:ext cx="274867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b="0" i="0" sz="1850" u="none" cap="none" strike="noStrike"/>
          </a:p>
        </p:txBody>
      </p:sp>
      <p:sp>
        <p:nvSpPr>
          <p:cNvPr id="223" name="Google Shape;223;p19"/>
          <p:cNvSpPr/>
          <p:nvPr/>
        </p:nvSpPr>
        <p:spPr>
          <a:xfrm>
            <a:off x="10793254" y="6913721"/>
            <a:ext cx="2752487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—</a:t>
            </a:r>
            <a:endParaRPr b="0" i="0" sz="1850" u="none" cap="none" strike="noStrike"/>
          </a:p>
        </p:txBody>
      </p:sp>
      <p:sp>
        <p:nvSpPr>
          <p:cNvPr id="224" name="Google Shape;224;p19"/>
          <p:cNvSpPr/>
          <p:nvPr/>
        </p:nvSpPr>
        <p:spPr>
          <a:xfrm>
            <a:off x="12785950" y="7759212"/>
            <a:ext cx="1764600" cy="38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/>
          <p:nvPr/>
        </p:nvSpPr>
        <p:spPr>
          <a:xfrm>
            <a:off x="3682824" y="915751"/>
            <a:ext cx="72570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Результаты согласовани</a:t>
            </a:r>
            <a:r>
              <a:rPr lang="en-US" sz="4400">
                <a:latin typeface="Source Serif 4"/>
                <a:ea typeface="Source Serif 4"/>
                <a:cs typeface="Source Serif 4"/>
                <a:sym typeface="Source Serif 4"/>
              </a:rPr>
              <a:t>я</a:t>
            </a:r>
            <a:endParaRPr b="0" i="0" sz="4400" u="none" cap="none" strike="noStrike"/>
          </a:p>
        </p:txBody>
      </p:sp>
      <p:sp>
        <p:nvSpPr>
          <p:cNvPr id="231" name="Google Shape;231;p20"/>
          <p:cNvSpPr/>
          <p:nvPr/>
        </p:nvSpPr>
        <p:spPr>
          <a:xfrm>
            <a:off x="9641729" y="2637381"/>
            <a:ext cx="41547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r>
              <a:t/>
            </a:r>
            <a:endParaRPr b="0" i="0" sz="1850" u="none" cap="none" strike="noStrike"/>
          </a:p>
        </p:txBody>
      </p:sp>
      <p:sp>
        <p:nvSpPr>
          <p:cNvPr id="232" name="Google Shape;232;p20"/>
          <p:cNvSpPr/>
          <p:nvPr/>
        </p:nvSpPr>
        <p:spPr>
          <a:xfrm>
            <a:off x="833961" y="3624647"/>
            <a:ext cx="4118700" cy="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6200"/>
              <a:buFont typeface="Source Serif 4"/>
              <a:buNone/>
            </a:pPr>
            <a:r>
              <a:rPr b="0" i="0" lang="en-US" sz="620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8.000</a:t>
            </a:r>
            <a:endParaRPr b="0" i="0" sz="6200" u="none" cap="none" strike="noStrike"/>
          </a:p>
        </p:txBody>
      </p:sp>
      <p:sp>
        <p:nvSpPr>
          <p:cNvPr id="233" name="Google Shape;233;p20"/>
          <p:cNvSpPr/>
          <p:nvPr/>
        </p:nvSpPr>
        <p:spPr>
          <a:xfrm>
            <a:off x="1485234" y="4713593"/>
            <a:ext cx="2816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βₓ, м</a:t>
            </a:r>
            <a:endParaRPr b="0" i="0" sz="2200" u="none" cap="none" strike="noStrike"/>
          </a:p>
        </p:txBody>
      </p:sp>
      <p:sp>
        <p:nvSpPr>
          <p:cNvPr id="234" name="Google Shape;234;p20"/>
          <p:cNvSpPr/>
          <p:nvPr/>
        </p:nvSpPr>
        <p:spPr>
          <a:xfrm>
            <a:off x="833961" y="5209131"/>
            <a:ext cx="41187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Достигнуто на выходе</a:t>
            </a:r>
            <a:endParaRPr b="0" i="0" sz="1850" u="none" cap="none" strike="noStrike"/>
          </a:p>
        </p:txBody>
      </p:sp>
      <p:sp>
        <p:nvSpPr>
          <p:cNvPr id="235" name="Google Shape;235;p20"/>
          <p:cNvSpPr/>
          <p:nvPr/>
        </p:nvSpPr>
        <p:spPr>
          <a:xfrm>
            <a:off x="5252014" y="3624647"/>
            <a:ext cx="4118700" cy="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6200"/>
              <a:buFont typeface="Source Serif 4"/>
              <a:buNone/>
            </a:pPr>
            <a:r>
              <a:rPr b="0" i="0" lang="en-US" sz="620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4.000</a:t>
            </a:r>
            <a:endParaRPr b="0" i="0" sz="6200" u="none" cap="none" strike="noStrike"/>
          </a:p>
        </p:txBody>
      </p:sp>
      <p:sp>
        <p:nvSpPr>
          <p:cNvPr id="236" name="Google Shape;236;p20"/>
          <p:cNvSpPr/>
          <p:nvPr/>
        </p:nvSpPr>
        <p:spPr>
          <a:xfrm>
            <a:off x="5903286" y="4713593"/>
            <a:ext cx="2816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βᵧ, м</a:t>
            </a:r>
            <a:endParaRPr b="0" i="0" sz="2200" u="none" cap="none" strike="noStrike"/>
          </a:p>
        </p:txBody>
      </p:sp>
      <p:sp>
        <p:nvSpPr>
          <p:cNvPr id="237" name="Google Shape;237;p20"/>
          <p:cNvSpPr/>
          <p:nvPr/>
        </p:nvSpPr>
        <p:spPr>
          <a:xfrm>
            <a:off x="5252014" y="5209131"/>
            <a:ext cx="41187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Достигнуто на выходе</a:t>
            </a:r>
            <a:endParaRPr b="0" i="0" sz="1850" u="none" cap="none" strike="noStrike"/>
          </a:p>
        </p:txBody>
      </p:sp>
      <p:sp>
        <p:nvSpPr>
          <p:cNvPr id="238" name="Google Shape;238;p20"/>
          <p:cNvSpPr/>
          <p:nvPr/>
        </p:nvSpPr>
        <p:spPr>
          <a:xfrm>
            <a:off x="9670066" y="3624647"/>
            <a:ext cx="4118700" cy="7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6200"/>
              <a:buFont typeface="Source Serif 4"/>
              <a:buNone/>
            </a:pPr>
            <a:r>
              <a:rPr lang="en-US" sz="6200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&lt;</a:t>
            </a:r>
            <a:r>
              <a:rPr b="0" i="0" lang="en-US" sz="620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0.0001%</a:t>
            </a:r>
            <a:endParaRPr b="0" i="0" sz="6200" u="none" cap="none" strike="noStrike"/>
          </a:p>
        </p:txBody>
      </p:sp>
      <p:sp>
        <p:nvSpPr>
          <p:cNvPr id="239" name="Google Shape;239;p20"/>
          <p:cNvSpPr/>
          <p:nvPr/>
        </p:nvSpPr>
        <p:spPr>
          <a:xfrm>
            <a:off x="10321338" y="4713593"/>
            <a:ext cx="28161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Погрешность</a:t>
            </a:r>
            <a:endParaRPr b="0" i="0" sz="2200" u="none" cap="none" strike="noStrike"/>
          </a:p>
        </p:txBody>
      </p:sp>
      <p:sp>
        <p:nvSpPr>
          <p:cNvPr id="240" name="Google Shape;240;p20"/>
          <p:cNvSpPr/>
          <p:nvPr/>
        </p:nvSpPr>
        <p:spPr>
          <a:xfrm>
            <a:off x="9670066" y="5209131"/>
            <a:ext cx="41187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αₓ и αᵧ ≈ 0</a:t>
            </a:r>
            <a:endParaRPr b="0" i="0" sz="1850" u="none" cap="none" strike="noStrike"/>
          </a:p>
        </p:txBody>
      </p:sp>
      <p:sp>
        <p:nvSpPr>
          <p:cNvPr id="241" name="Google Shape;241;p20"/>
          <p:cNvSpPr/>
          <p:nvPr/>
        </p:nvSpPr>
        <p:spPr>
          <a:xfrm>
            <a:off x="12865800" y="7780881"/>
            <a:ext cx="1764600" cy="38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/>
          <p:nvPr/>
        </p:nvSpPr>
        <p:spPr>
          <a:xfrm>
            <a:off x="4293810" y="333242"/>
            <a:ext cx="60429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Стыковка с бустером</a:t>
            </a:r>
            <a:endParaRPr b="0" i="0" sz="4400" u="none" cap="none" strike="noStrike"/>
          </a:p>
        </p:txBody>
      </p:sp>
      <p:sp>
        <p:nvSpPr>
          <p:cNvPr id="248" name="Google Shape;248;p21"/>
          <p:cNvSpPr/>
          <p:nvPr/>
        </p:nvSpPr>
        <p:spPr>
          <a:xfrm>
            <a:off x="150509" y="2253251"/>
            <a:ext cx="3183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7"/>
              <a:buFont typeface="Source Serif 4"/>
              <a:buNone/>
            </a:pPr>
            <a:r>
              <a:rPr b="0" i="0" lang="en-US" sz="2487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Триплет</a:t>
            </a:r>
            <a:endParaRPr b="0" i="0" sz="2487" u="none" cap="none" strike="noStrike"/>
          </a:p>
        </p:txBody>
      </p:sp>
      <p:sp>
        <p:nvSpPr>
          <p:cNvPr id="249" name="Google Shape;249;p21"/>
          <p:cNvSpPr/>
          <p:nvPr/>
        </p:nvSpPr>
        <p:spPr>
          <a:xfrm>
            <a:off x="-452997" y="2921655"/>
            <a:ext cx="4390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91"/>
              <a:buFont typeface="Source Sans 3"/>
              <a:buNone/>
            </a:pPr>
            <a:r>
              <a:rPr b="0" i="0" lang="en-US" sz="2091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Основное согласование</a:t>
            </a:r>
            <a:endParaRPr b="0" i="0" sz="2091" u="none" cap="none" strike="noStrike"/>
          </a:p>
        </p:txBody>
      </p:sp>
      <p:sp>
        <p:nvSpPr>
          <p:cNvPr id="250" name="Google Shape;250;p21"/>
          <p:cNvSpPr/>
          <p:nvPr/>
        </p:nvSpPr>
        <p:spPr>
          <a:xfrm>
            <a:off x="5286278" y="2253251"/>
            <a:ext cx="3183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7"/>
              <a:buFont typeface="Source Serif 4"/>
              <a:buNone/>
            </a:pPr>
            <a:r>
              <a:rPr b="0" i="0" lang="en-US" sz="2487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Септум</a:t>
            </a:r>
            <a:endParaRPr b="0" i="0" sz="2487" u="none" cap="none" strike="noStrike"/>
          </a:p>
        </p:txBody>
      </p:sp>
      <p:sp>
        <p:nvSpPr>
          <p:cNvPr id="251" name="Google Shape;251;p21"/>
          <p:cNvSpPr/>
          <p:nvPr/>
        </p:nvSpPr>
        <p:spPr>
          <a:xfrm>
            <a:off x="4682828" y="2921655"/>
            <a:ext cx="43905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91"/>
              <a:buFont typeface="Source Sans 3"/>
              <a:buNone/>
            </a:pPr>
            <a:r>
              <a:rPr b="0" i="0" lang="en-US" sz="2091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Плавный поворот на ~3°</a:t>
            </a:r>
            <a:endParaRPr b="0" i="0" sz="2091" u="none" cap="none" strike="noStrike"/>
          </a:p>
        </p:txBody>
      </p:sp>
      <p:sp>
        <p:nvSpPr>
          <p:cNvPr id="252" name="Google Shape;252;p21"/>
          <p:cNvSpPr/>
          <p:nvPr/>
        </p:nvSpPr>
        <p:spPr>
          <a:xfrm>
            <a:off x="10345507" y="2253251"/>
            <a:ext cx="3183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7"/>
              <a:buFont typeface="Source Serif 4"/>
              <a:buNone/>
            </a:pPr>
            <a:r>
              <a:rPr b="0" i="0" lang="en-US" sz="2487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Бустер</a:t>
            </a:r>
            <a:endParaRPr b="0" i="0" sz="2487" u="none" cap="none" strike="noStrike"/>
          </a:p>
        </p:txBody>
      </p:sp>
      <p:sp>
        <p:nvSpPr>
          <p:cNvPr id="253" name="Google Shape;253;p21"/>
          <p:cNvSpPr/>
          <p:nvPr/>
        </p:nvSpPr>
        <p:spPr>
          <a:xfrm>
            <a:off x="9665363" y="2921655"/>
            <a:ext cx="4543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91"/>
              <a:buFont typeface="Source Sans 3"/>
              <a:buNone/>
            </a:pPr>
            <a:r>
              <a:rPr b="0" i="0" lang="en-US" sz="2091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Инжекция на орбиту</a:t>
            </a:r>
            <a:endParaRPr b="0" i="0" sz="2091" u="none" cap="none" strike="noStrike"/>
          </a:p>
        </p:txBody>
      </p:sp>
      <p:sp>
        <p:nvSpPr>
          <p:cNvPr id="254" name="Google Shape;254;p21"/>
          <p:cNvSpPr/>
          <p:nvPr/>
        </p:nvSpPr>
        <p:spPr>
          <a:xfrm>
            <a:off x="9022215" y="4915149"/>
            <a:ext cx="3183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7"/>
              <a:buFont typeface="Source Serif 4"/>
              <a:buNone/>
            </a:pPr>
            <a:r>
              <a:rPr b="0" i="0" lang="en-US" sz="2487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Дисперсия</a:t>
            </a:r>
            <a:endParaRPr b="0" i="0" sz="2487" u="none" cap="none" strike="noStrike"/>
          </a:p>
        </p:txBody>
      </p:sp>
      <p:sp>
        <p:nvSpPr>
          <p:cNvPr id="255" name="Google Shape;255;p21"/>
          <p:cNvSpPr/>
          <p:nvPr/>
        </p:nvSpPr>
        <p:spPr>
          <a:xfrm>
            <a:off x="-615425" y="5703996"/>
            <a:ext cx="146451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91"/>
              <a:buFont typeface="Source Sans 3"/>
              <a:buNone/>
            </a:pPr>
            <a:r>
              <a:rPr b="0" i="0" lang="en-US" sz="2091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Оценено влияние: &lt;0.02 мм — незначительно</a:t>
            </a:r>
            <a:endParaRPr b="0" i="0" sz="2091" u="none" cap="none" strike="noStrike"/>
          </a:p>
        </p:txBody>
      </p:sp>
      <p:sp>
        <p:nvSpPr>
          <p:cNvPr id="256" name="Google Shape;256;p21"/>
          <p:cNvSpPr/>
          <p:nvPr/>
        </p:nvSpPr>
        <p:spPr>
          <a:xfrm>
            <a:off x="12796650" y="7755100"/>
            <a:ext cx="1764600" cy="38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4190405" y="2516398"/>
            <a:ext cx="1810200" cy="57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350" lIns="103350" spcFirstLastPara="1" rIns="103350" wrap="square" tIns="10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2"/>
          </a:p>
        </p:txBody>
      </p:sp>
      <p:sp>
        <p:nvSpPr>
          <p:cNvPr id="258" name="Google Shape;258;p21"/>
          <p:cNvSpPr/>
          <p:nvPr/>
        </p:nvSpPr>
        <p:spPr>
          <a:xfrm>
            <a:off x="9525563" y="2516398"/>
            <a:ext cx="1810200" cy="57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350" lIns="103350" spcFirstLastPara="1" rIns="103350" wrap="square" tIns="10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2"/>
          </a:p>
        </p:txBody>
      </p:sp>
      <p:sp>
        <p:nvSpPr>
          <p:cNvPr id="259" name="Google Shape;259;p21"/>
          <p:cNvSpPr/>
          <p:nvPr/>
        </p:nvSpPr>
        <p:spPr>
          <a:xfrm rot="2700000">
            <a:off x="7675294" y="3849913"/>
            <a:ext cx="1810335" cy="56978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350" lIns="103350" spcFirstLastPara="1" rIns="103350" wrap="square" tIns="103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2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/>
          <p:nvPr/>
        </p:nvSpPr>
        <p:spPr>
          <a:xfrm>
            <a:off x="837724" y="1411010"/>
            <a:ext cx="6391394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Source Serif 4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Ключевые результаты</a:t>
            </a:r>
            <a:endParaRPr b="0" i="0" sz="4400" u="none" cap="none" strike="noStrike"/>
          </a:p>
        </p:txBody>
      </p:sp>
      <p:sp>
        <p:nvSpPr>
          <p:cNvPr id="266" name="Google Shape;266;p22"/>
          <p:cNvSpPr/>
          <p:nvPr/>
        </p:nvSpPr>
        <p:spPr>
          <a:xfrm>
            <a:off x="837724" y="2593777"/>
            <a:ext cx="6357818" cy="1801177"/>
          </a:xfrm>
          <a:prstGeom prst="roundRect">
            <a:avLst>
              <a:gd fmla="val 8123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807244" y="2593777"/>
            <a:ext cx="121920" cy="1801177"/>
          </a:xfrm>
          <a:prstGeom prst="roundRect">
            <a:avLst>
              <a:gd fmla="val 8246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1198959" y="286357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Задача решена</a:t>
            </a:r>
            <a:endParaRPr b="0" i="0" sz="2200" u="none" cap="none" strike="noStrike"/>
          </a:p>
        </p:txBody>
      </p:sp>
      <p:sp>
        <p:nvSpPr>
          <p:cNvPr id="269" name="Google Shape;269;p22"/>
          <p:cNvSpPr/>
          <p:nvPr/>
        </p:nvSpPr>
        <p:spPr>
          <a:xfrm>
            <a:off x="1198959" y="3359110"/>
            <a:ext cx="572678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Параметры α и β на выходе соответствуют целевым с нулевой погрешностью</a:t>
            </a:r>
            <a:endParaRPr b="0" i="0" sz="1850" u="none" cap="none" strike="noStrike"/>
          </a:p>
        </p:txBody>
      </p:sp>
      <p:sp>
        <p:nvSpPr>
          <p:cNvPr id="270" name="Google Shape;270;p22"/>
          <p:cNvSpPr/>
          <p:nvPr/>
        </p:nvSpPr>
        <p:spPr>
          <a:xfrm>
            <a:off x="7434858" y="2593777"/>
            <a:ext cx="6357818" cy="1801177"/>
          </a:xfrm>
          <a:prstGeom prst="roundRect">
            <a:avLst>
              <a:gd fmla="val 8123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7404378" y="2593777"/>
            <a:ext cx="121920" cy="1801177"/>
          </a:xfrm>
          <a:prstGeom prst="roundRect">
            <a:avLst>
              <a:gd fmla="val 8246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7796093" y="286357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Метод</a:t>
            </a:r>
            <a:endParaRPr b="0" i="0" sz="2200" u="none" cap="none" strike="noStrike"/>
          </a:p>
        </p:txBody>
      </p:sp>
      <p:sp>
        <p:nvSpPr>
          <p:cNvPr id="273" name="Google Shape;273;p22"/>
          <p:cNvSpPr/>
          <p:nvPr/>
        </p:nvSpPr>
        <p:spPr>
          <a:xfrm>
            <a:off x="7796093" y="3359110"/>
            <a:ext cx="572678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Гибридный алгоритм (DE + BFGS) эффективен для невыпуклой оптимизации</a:t>
            </a:r>
            <a:endParaRPr b="0" i="0" sz="1850" u="none" cap="none" strike="noStrike"/>
          </a:p>
        </p:txBody>
      </p:sp>
      <p:sp>
        <p:nvSpPr>
          <p:cNvPr id="274" name="Google Shape;274;p22"/>
          <p:cNvSpPr/>
          <p:nvPr/>
        </p:nvSpPr>
        <p:spPr>
          <a:xfrm>
            <a:off x="837724" y="4634270"/>
            <a:ext cx="6357818" cy="2184202"/>
          </a:xfrm>
          <a:prstGeom prst="roundRect">
            <a:avLst>
              <a:gd fmla="val 6698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807244" y="4634270"/>
            <a:ext cx="121920" cy="2184202"/>
          </a:xfrm>
          <a:prstGeom prst="roundRect">
            <a:avLst>
              <a:gd fmla="val 8246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1198959" y="4904065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Реализация</a:t>
            </a:r>
            <a:endParaRPr b="0" i="0" sz="2200" u="none" cap="none" strike="noStrike"/>
          </a:p>
        </p:txBody>
      </p:sp>
      <p:sp>
        <p:nvSpPr>
          <p:cNvPr id="277" name="Google Shape;277;p22"/>
          <p:cNvSpPr/>
          <p:nvPr/>
        </p:nvSpPr>
        <p:spPr>
          <a:xfrm>
            <a:off x="1198959" y="5399603"/>
            <a:ext cx="572678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Получены </a:t>
            </a:r>
            <a:r>
              <a:rPr lang="en-US" sz="1850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технологические</a:t>
            </a: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 параметры магнитов (умеренные градиенты поля)</a:t>
            </a:r>
            <a:endParaRPr b="0" i="0" sz="1850" u="none" cap="none" strike="noStrike"/>
          </a:p>
        </p:txBody>
      </p:sp>
      <p:sp>
        <p:nvSpPr>
          <p:cNvPr id="278" name="Google Shape;278;p22"/>
          <p:cNvSpPr/>
          <p:nvPr/>
        </p:nvSpPr>
        <p:spPr>
          <a:xfrm>
            <a:off x="7434858" y="4634270"/>
            <a:ext cx="6357818" cy="2184202"/>
          </a:xfrm>
          <a:prstGeom prst="roundRect">
            <a:avLst>
              <a:gd fmla="val 6698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D6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7404378" y="4634270"/>
            <a:ext cx="121920" cy="2184202"/>
          </a:xfrm>
          <a:prstGeom prst="roundRect">
            <a:avLst>
              <a:gd fmla="val 82464" name="adj"/>
            </a:avLst>
          </a:prstGeom>
          <a:solidFill>
            <a:srgbClr val="BE4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7796093" y="4904065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Source Serif 4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Интеграция</a:t>
            </a:r>
            <a:endParaRPr b="0" i="0" sz="2200" u="none" cap="none" strike="noStrike"/>
          </a:p>
        </p:txBody>
      </p:sp>
      <p:sp>
        <p:nvSpPr>
          <p:cNvPr id="281" name="Google Shape;281;p22"/>
          <p:cNvSpPr/>
          <p:nvPr/>
        </p:nvSpPr>
        <p:spPr>
          <a:xfrm>
            <a:off x="7796093" y="5399603"/>
            <a:ext cx="5726787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Предложена полная схема стыковки с бустером, включающая септум (возможно рассмотрение дополнительных корректоров)</a:t>
            </a:r>
            <a:endParaRPr b="0" i="0" sz="1850" u="none" cap="none" strike="noStrike"/>
          </a:p>
        </p:txBody>
      </p:sp>
      <p:sp>
        <p:nvSpPr>
          <p:cNvPr id="282" name="Google Shape;282;p22"/>
          <p:cNvSpPr/>
          <p:nvPr/>
        </p:nvSpPr>
        <p:spPr>
          <a:xfrm>
            <a:off x="12796650" y="7755100"/>
            <a:ext cx="1764600" cy="38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/>
          <p:nvPr/>
        </p:nvSpPr>
        <p:spPr>
          <a:xfrm>
            <a:off x="990750" y="2356764"/>
            <a:ext cx="12648900" cy="3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50"/>
              <a:buFont typeface="Source Serif 4"/>
              <a:buNone/>
            </a:pPr>
            <a:r>
              <a:rPr lang="en-US" sz="8850">
                <a:latin typeface="Source Serif 4"/>
                <a:ea typeface="Source Serif 4"/>
                <a:cs typeface="Source Serif 4"/>
                <a:sym typeface="Source Serif 4"/>
              </a:rPr>
              <a:t>Будем рады ответить на ваши вопросы</a:t>
            </a:r>
            <a:endParaRPr b="0" i="0" sz="8850" u="none" cap="none" strike="noStrike"/>
          </a:p>
        </p:txBody>
      </p:sp>
      <p:sp>
        <p:nvSpPr>
          <p:cNvPr id="289" name="Google Shape;289;p23"/>
          <p:cNvSpPr/>
          <p:nvPr/>
        </p:nvSpPr>
        <p:spPr>
          <a:xfrm>
            <a:off x="837724" y="3828455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r>
              <a:t/>
            </a:r>
            <a:endParaRPr b="0" i="0" sz="1850" u="none" cap="none" strike="noStrike"/>
          </a:p>
        </p:txBody>
      </p:sp>
      <p:sp>
        <p:nvSpPr>
          <p:cNvPr id="290" name="Google Shape;290;p23"/>
          <p:cNvSpPr/>
          <p:nvPr/>
        </p:nvSpPr>
        <p:spPr>
          <a:xfrm>
            <a:off x="837724" y="5132903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r>
              <a:t/>
            </a:r>
            <a:endParaRPr b="0" i="0" sz="1850" u="none" cap="none" strike="noStrike"/>
          </a:p>
        </p:txBody>
      </p:sp>
      <p:sp>
        <p:nvSpPr>
          <p:cNvPr id="291" name="Google Shape;291;p23"/>
          <p:cNvSpPr/>
          <p:nvPr/>
        </p:nvSpPr>
        <p:spPr>
          <a:xfrm>
            <a:off x="837724" y="5785128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r>
              <a:t/>
            </a:r>
            <a:endParaRPr b="0" i="0" sz="1850" u="none" cap="none" strike="noStrike"/>
          </a:p>
        </p:txBody>
      </p:sp>
      <p:sp>
        <p:nvSpPr>
          <p:cNvPr id="292" name="Google Shape;292;p23"/>
          <p:cNvSpPr/>
          <p:nvPr/>
        </p:nvSpPr>
        <p:spPr>
          <a:xfrm>
            <a:off x="12796650" y="7755100"/>
            <a:ext cx="1764600" cy="38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