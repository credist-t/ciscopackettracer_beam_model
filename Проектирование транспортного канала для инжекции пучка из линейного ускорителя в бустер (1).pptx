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Source Sans 3" panose="020B0604020202020204" charset="0"/>
      <p:regular r:id="rId15"/>
      <p:bold r:id="rId16"/>
      <p:italic r:id="rId17"/>
      <p:boldItalic r:id="rId18"/>
    </p:embeddedFont>
    <p:embeddedFont>
      <p:font typeface="Source Serif 4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dd8b96a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dd8b96ae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cdd8b96ae9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dd8b96ae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dd8b96ae9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cdd8b96ae9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de36932b5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de36932b5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de36932b5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837724" y="2687717"/>
            <a:ext cx="12954952" cy="211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Проектирование транспортного канала для инжекции пучка из линейного ускорителя в бустер</a:t>
            </a:r>
            <a:endParaRPr sz="4400" b="0" i="0" u="none" strike="noStrike" cap="none"/>
          </a:p>
        </p:txBody>
      </p:sp>
      <p:sp>
        <p:nvSpPr>
          <p:cNvPr id="53" name="Google Shape;53;p12"/>
          <p:cNvSpPr/>
          <p:nvPr/>
        </p:nvSpPr>
        <p:spPr>
          <a:xfrm>
            <a:off x="837724" y="515874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endParaRPr sz="1850" b="0" i="0" u="none" strike="noStrike" cap="none"/>
          </a:p>
        </p:txBody>
      </p:sp>
      <p:sp>
        <p:nvSpPr>
          <p:cNvPr id="54" name="Google Shape;54;p1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783308" y="737610"/>
            <a:ext cx="5266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Source Serif 4"/>
              <a:buNone/>
            </a:pPr>
            <a:r>
              <a:rPr lang="en-US" sz="41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Постановка задачи</a:t>
            </a:r>
            <a:endParaRPr sz="4100" b="0" i="0" u="none" strike="noStrike" cap="none"/>
          </a:p>
        </p:txBody>
      </p:sp>
      <p:sp>
        <p:nvSpPr>
          <p:cNvPr id="61" name="Google Shape;61;p13"/>
          <p:cNvSpPr/>
          <p:nvPr/>
        </p:nvSpPr>
        <p:spPr>
          <a:xfrm>
            <a:off x="391662" y="3222289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391662" y="3804148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3000" b="0" i="0" u="none" strike="noStrike" cap="none"/>
          </a:p>
        </p:txBody>
      </p:sp>
      <p:sp>
        <p:nvSpPr>
          <p:cNvPr id="63" name="Google Shape;63;p13"/>
          <p:cNvSpPr/>
          <p:nvPr/>
        </p:nvSpPr>
        <p:spPr>
          <a:xfrm>
            <a:off x="1979409" y="3230974"/>
            <a:ext cx="308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Начальные параметры</a:t>
            </a:r>
            <a:endParaRPr sz="300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391662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-0.5, βₓ = 5.0 м</a:t>
            </a:r>
            <a:endParaRPr sz="3000"/>
          </a:p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0.3, βᵧ = 2.5 м</a:t>
            </a:r>
            <a:endParaRPr sz="300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8963208" y="3222299"/>
            <a:ext cx="2740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Целевые параметры</a:t>
            </a:r>
            <a:endParaRPr sz="3000" b="0" i="0" u="none" strike="noStrike" cap="none"/>
          </a:p>
        </p:txBody>
      </p:sp>
      <p:sp>
        <p:nvSpPr>
          <p:cNvPr id="66" name="Google Shape;66;p13"/>
          <p:cNvSpPr/>
          <p:nvPr/>
        </p:nvSpPr>
        <p:spPr>
          <a:xfrm>
            <a:off x="7204180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0, βₓ = 8.0 м</a:t>
            </a:r>
            <a:endParaRPr sz="3000" b="0" i="0" u="none" strike="noStrike" cap="none"/>
          </a:p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0, βᵧ = 4.0 м</a:t>
            </a:r>
            <a:endParaRPr sz="3000" b="0" i="0" u="none" strike="noStrike" cap="none"/>
          </a:p>
        </p:txBody>
      </p:sp>
      <p:sp>
        <p:nvSpPr>
          <p:cNvPr id="67" name="Google Shape;67;p13"/>
          <p:cNvSpPr/>
          <p:nvPr/>
        </p:nvSpPr>
        <p:spPr>
          <a:xfrm>
            <a:off x="12770700" y="7757625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11467125" y="5226125"/>
            <a:ext cx="1764600" cy="98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885950" y="5226125"/>
            <a:ext cx="1764600" cy="111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13"/>
          <p:cNvGrpSpPr/>
          <p:nvPr/>
        </p:nvGrpSpPr>
        <p:grpSpPr>
          <a:xfrm rot="10800000">
            <a:off x="783312" y="1804630"/>
            <a:ext cx="4354592" cy="895231"/>
            <a:chOff x="783312" y="1804630"/>
            <a:chExt cx="4354592" cy="895231"/>
          </a:xfrm>
        </p:grpSpPr>
        <p:pic>
          <p:nvPicPr>
            <p:cNvPr id="71" name="Google Shape;71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13"/>
          <p:cNvGrpSpPr/>
          <p:nvPr/>
        </p:nvGrpSpPr>
        <p:grpSpPr>
          <a:xfrm rot="10800000">
            <a:off x="5361637" y="1804530"/>
            <a:ext cx="4354592" cy="895231"/>
            <a:chOff x="783312" y="1804630"/>
            <a:chExt cx="4354592" cy="895231"/>
          </a:xfrm>
        </p:grpSpPr>
        <p:pic>
          <p:nvPicPr>
            <p:cNvPr id="74" name="Google Shape;74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10800000">
            <a:off x="10059087" y="1804530"/>
            <a:ext cx="4354592" cy="895231"/>
            <a:chOff x="783312" y="1804630"/>
            <a:chExt cx="4354592" cy="895231"/>
          </a:xfrm>
        </p:grpSpPr>
        <p:pic>
          <p:nvPicPr>
            <p:cNvPr id="77" name="Google Shape;77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3"/>
          <p:cNvSpPr/>
          <p:nvPr/>
        </p:nvSpPr>
        <p:spPr>
          <a:xfrm>
            <a:off x="10830055" y="1851642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sz="2050" b="0" i="0" u="none" strike="noStrike" cap="none"/>
          </a:p>
        </p:txBody>
      </p:sp>
      <p:sp>
        <p:nvSpPr>
          <p:cNvPr id="80" name="Google Shape;80;p13"/>
          <p:cNvSpPr/>
          <p:nvPr/>
        </p:nvSpPr>
        <p:spPr>
          <a:xfrm>
            <a:off x="10282781" y="23063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Целевые параметры</a:t>
            </a:r>
            <a:endParaRPr sz="1750" b="0" i="0" u="none" strike="noStrike" cap="none"/>
          </a:p>
        </p:txBody>
      </p:sp>
      <p:sp>
        <p:nvSpPr>
          <p:cNvPr id="81" name="Google Shape;81;p13"/>
          <p:cNvSpPr/>
          <p:nvPr/>
        </p:nvSpPr>
        <p:spPr>
          <a:xfrm>
            <a:off x="6206178" y="1851542"/>
            <a:ext cx="2945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 квадруполей</a:t>
            </a:r>
            <a:endParaRPr sz="2050" b="0" i="0" u="none" strike="noStrike" cap="none"/>
          </a:p>
        </p:txBody>
      </p:sp>
      <p:sp>
        <p:nvSpPr>
          <p:cNvPr id="82" name="Google Shape;82;p13"/>
          <p:cNvSpPr/>
          <p:nvPr/>
        </p:nvSpPr>
        <p:spPr>
          <a:xfrm>
            <a:off x="5585323" y="23062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Преобразование</a:t>
            </a:r>
            <a:endParaRPr sz="1750" b="0" i="0" u="none" strike="noStrike" cap="none"/>
          </a:p>
        </p:txBody>
      </p:sp>
      <p:sp>
        <p:nvSpPr>
          <p:cNvPr id="83" name="Google Shape;83;p13"/>
          <p:cNvSpPr/>
          <p:nvPr/>
        </p:nvSpPr>
        <p:spPr>
          <a:xfrm>
            <a:off x="1606639" y="1830704"/>
            <a:ext cx="3045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Линейный ускоритель</a:t>
            </a:r>
            <a:endParaRPr sz="2050" b="0" i="0" u="none" strike="noStrike" cap="none"/>
          </a:p>
        </p:txBody>
      </p:sp>
      <p:sp>
        <p:nvSpPr>
          <p:cNvPr id="84" name="Google Shape;84;p13"/>
          <p:cNvSpPr/>
          <p:nvPr/>
        </p:nvSpPr>
        <p:spPr>
          <a:xfrm>
            <a:off x="1175864" y="2327254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Начальные параметры пучка</a:t>
            </a:r>
            <a:endParaRPr sz="1750" b="0" i="0" u="none" strike="noStrike" cap="none"/>
          </a:p>
        </p:txBody>
      </p:sp>
      <p:sp>
        <p:nvSpPr>
          <p:cNvPr id="85" name="Google Shape;85;p13"/>
          <p:cNvSpPr/>
          <p:nvPr/>
        </p:nvSpPr>
        <p:spPr>
          <a:xfrm>
            <a:off x="12" y="2135944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521947-0806-A864-8EA6-13C3B4A7434C}"/>
              </a:ext>
            </a:extLst>
          </p:cNvPr>
          <p:cNvSpPr/>
          <p:nvPr/>
        </p:nvSpPr>
        <p:spPr>
          <a:xfrm>
            <a:off x="11576050" y="6070600"/>
            <a:ext cx="818441" cy="513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1133594" y="752237"/>
            <a:ext cx="4479369" cy="55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Source Serif 4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Инструментарий</a:t>
            </a:r>
            <a:endParaRPr sz="3500" b="0" i="0" u="none" strike="noStrike" cap="none"/>
          </a:p>
        </p:txBody>
      </p:sp>
      <p:sp>
        <p:nvSpPr>
          <p:cNvPr id="92" name="Google Shape;92;p14"/>
          <p:cNvSpPr/>
          <p:nvPr/>
        </p:nvSpPr>
        <p:spPr>
          <a:xfrm>
            <a:off x="1133594" y="1614845"/>
            <a:ext cx="6105882" cy="2035493"/>
          </a:xfrm>
          <a:prstGeom prst="roundRect">
            <a:avLst>
              <a:gd name="adj" fmla="val 392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331476" y="1812727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519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331476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Python / NumPy</a:t>
            </a:r>
            <a:endParaRPr sz="1750" b="0" i="0" u="none" strike="noStrike" cap="none"/>
          </a:p>
        </p:txBody>
      </p:sp>
      <p:sp>
        <p:nvSpPr>
          <p:cNvPr id="96" name="Google Shape;96;p14"/>
          <p:cNvSpPr/>
          <p:nvPr/>
        </p:nvSpPr>
        <p:spPr>
          <a:xfrm>
            <a:off x="1331476" y="2905720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Матричные вычисления, оптика толстых линз</a:t>
            </a:r>
            <a:endParaRPr sz="1450" b="0" i="0" u="none" strike="noStrike" cap="none"/>
          </a:p>
        </p:txBody>
      </p:sp>
      <p:sp>
        <p:nvSpPr>
          <p:cNvPr id="97" name="Google Shape;97;p14"/>
          <p:cNvSpPr/>
          <p:nvPr/>
        </p:nvSpPr>
        <p:spPr>
          <a:xfrm>
            <a:off x="7390805" y="1614845"/>
            <a:ext cx="6106001" cy="2035493"/>
          </a:xfrm>
          <a:prstGeom prst="roundRect">
            <a:avLst>
              <a:gd name="adj" fmla="val 392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588687" y="1812727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5730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7588687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SciPy</a:t>
            </a:r>
            <a:endParaRPr sz="1750" b="0" i="0" u="none" strike="noStrike" cap="none"/>
          </a:p>
        </p:txBody>
      </p:sp>
      <p:sp>
        <p:nvSpPr>
          <p:cNvPr id="101" name="Google Shape;101;p14"/>
          <p:cNvSpPr/>
          <p:nvPr/>
        </p:nvSpPr>
        <p:spPr>
          <a:xfrm>
            <a:off x="7588687" y="2905720"/>
            <a:ext cx="5710237" cy="546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Глобальная и локальная оптимизация (дифференциальная эволюция, BFGS)</a:t>
            </a:r>
            <a:endParaRPr sz="1450" b="0" i="0" u="none" strike="noStrike" cap="none"/>
          </a:p>
        </p:txBody>
      </p:sp>
      <p:sp>
        <p:nvSpPr>
          <p:cNvPr id="102" name="Google Shape;102;p14"/>
          <p:cNvSpPr/>
          <p:nvPr/>
        </p:nvSpPr>
        <p:spPr>
          <a:xfrm>
            <a:off x="1133594" y="3801666"/>
            <a:ext cx="6105882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331476" y="3999548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8519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1331476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Matplotlib</a:t>
            </a:r>
            <a:endParaRPr sz="1750" b="0" i="0" u="none" strike="noStrike" cap="none"/>
          </a:p>
        </p:txBody>
      </p:sp>
      <p:sp>
        <p:nvSpPr>
          <p:cNvPr id="106" name="Google Shape;106;p14"/>
          <p:cNvSpPr/>
          <p:nvPr/>
        </p:nvSpPr>
        <p:spPr>
          <a:xfrm>
            <a:off x="1331476" y="5092541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Визуализация огибающих пучка</a:t>
            </a:r>
            <a:endParaRPr sz="1450" b="0" i="0" u="none" strike="noStrike" cap="none"/>
          </a:p>
        </p:txBody>
      </p:sp>
      <p:sp>
        <p:nvSpPr>
          <p:cNvPr id="107" name="Google Shape;107;p14"/>
          <p:cNvSpPr/>
          <p:nvPr/>
        </p:nvSpPr>
        <p:spPr>
          <a:xfrm>
            <a:off x="7390805" y="3801666"/>
            <a:ext cx="6106001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588687" y="3999548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5730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7588687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Собственный код</a:t>
            </a:r>
            <a:endParaRPr sz="1750" b="0" i="0" u="none" strike="noStrike" cap="none"/>
          </a:p>
        </p:txBody>
      </p:sp>
      <p:sp>
        <p:nvSpPr>
          <p:cNvPr id="111" name="Google Shape;111;p14"/>
          <p:cNvSpPr/>
          <p:nvPr/>
        </p:nvSpPr>
        <p:spPr>
          <a:xfrm>
            <a:off x="7588687" y="5092541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Моделирование триплета, расчёт параметров Твисса</a:t>
            </a:r>
            <a:endParaRPr sz="1450" b="0" i="0" u="none" strike="noStrike" cap="none"/>
          </a:p>
        </p:txBody>
      </p:sp>
      <p:sp>
        <p:nvSpPr>
          <p:cNvPr id="112" name="Google Shape;112;p14"/>
          <p:cNvSpPr/>
          <p:nvPr/>
        </p:nvSpPr>
        <p:spPr>
          <a:xfrm>
            <a:off x="1133594" y="5715119"/>
            <a:ext cx="6105882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331476" y="5913001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8519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1331414" y="6605066"/>
            <a:ext cx="22398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ИИ</a:t>
            </a: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331439" y="7006020"/>
            <a:ext cx="57102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Использованы крупные модели для систематизации и структуры</a:t>
            </a:r>
            <a:endParaRPr sz="1450" b="0" i="0" u="none" strike="noStrike" cap="none"/>
          </a:p>
        </p:txBody>
      </p:sp>
      <p:sp>
        <p:nvSpPr>
          <p:cNvPr id="117" name="Google Shape;117;p14"/>
          <p:cNvSpPr/>
          <p:nvPr/>
        </p:nvSpPr>
        <p:spPr>
          <a:xfrm>
            <a:off x="7390805" y="5715119"/>
            <a:ext cx="6106001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7588687" y="5913001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1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45730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7588687" y="6635353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Google colab</a:t>
            </a:r>
            <a:endParaRPr sz="1750" b="0" i="0" u="none" strike="noStrike" cap="none"/>
          </a:p>
        </p:txBody>
      </p:sp>
      <p:sp>
        <p:nvSpPr>
          <p:cNvPr id="121" name="Google Shape;121;p14"/>
          <p:cNvSpPr/>
          <p:nvPr/>
        </p:nvSpPr>
        <p:spPr>
          <a:xfrm>
            <a:off x="7588687" y="7005995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Совместное написание кода</a:t>
            </a:r>
            <a:endParaRPr sz="1450" b="0" i="0" u="none" strike="noStrike" cap="none"/>
          </a:p>
        </p:txBody>
      </p:sp>
      <p:sp>
        <p:nvSpPr>
          <p:cNvPr id="122" name="Google Shape;122;p14"/>
          <p:cNvSpPr/>
          <p:nvPr/>
        </p:nvSpPr>
        <p:spPr>
          <a:xfrm>
            <a:off x="12800775" y="77375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747117" y="908447"/>
            <a:ext cx="5496163" cy="62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Source Serif 4"/>
              <a:buNone/>
            </a:pPr>
            <a:r>
              <a:rPr lang="en-US" sz="39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Как искали решение?</a:t>
            </a:r>
            <a:endParaRPr sz="3950" b="0" i="0" u="none" strike="noStrike" cap="none"/>
          </a:p>
        </p:txBody>
      </p:sp>
      <p:sp>
        <p:nvSpPr>
          <p:cNvPr id="129" name="Google Shape;129;p15"/>
          <p:cNvSpPr/>
          <p:nvPr/>
        </p:nvSpPr>
        <p:spPr>
          <a:xfrm>
            <a:off x="747117" y="2012156"/>
            <a:ext cx="3013829" cy="37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Проблема</a:t>
            </a:r>
            <a:endParaRPr sz="2350" b="0" i="0" u="none" strike="noStrike" cap="none"/>
          </a:p>
        </p:txBody>
      </p:sp>
      <p:sp>
        <p:nvSpPr>
          <p:cNvPr id="130" name="Google Shape;130;p15"/>
          <p:cNvSpPr/>
          <p:nvPr/>
        </p:nvSpPr>
        <p:spPr>
          <a:xfrm>
            <a:off x="747117" y="3005370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Обычный перебор 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малоэффективен в данной задаче</a:t>
            </a: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4898935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Первая идея - облегчить подбор</a:t>
            </a:r>
            <a:endParaRPr sz="2350" b="0" i="0" u="none" strike="noStrike" cap="none"/>
          </a:p>
        </p:txBody>
      </p:sp>
      <p:sp>
        <p:nvSpPr>
          <p:cNvPr id="132" name="Google Shape;132;p15"/>
          <p:cNvSpPr/>
          <p:nvPr/>
        </p:nvSpPr>
        <p:spPr>
          <a:xfrm>
            <a:off x="4898935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Для этого использовалась аппроксимация магнитов к тонким линзам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650" b="0" i="0" u="none" strike="noStrike" cap="none"/>
          </a:p>
        </p:txBody>
      </p:sp>
      <p:sp>
        <p:nvSpPr>
          <p:cNvPr id="133" name="Google Shape;133;p15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26" y="4268025"/>
            <a:ext cx="13218626" cy="36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9934660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Визуализация</a:t>
            </a:r>
            <a:endParaRPr sz="2350" b="0" i="0" u="none" strike="noStrike" cap="none"/>
          </a:p>
        </p:txBody>
      </p:sp>
      <p:sp>
        <p:nvSpPr>
          <p:cNvPr id="136" name="Google Shape;136;p15"/>
          <p:cNvSpPr/>
          <p:nvPr/>
        </p:nvSpPr>
        <p:spPr>
          <a:xfrm>
            <a:off x="9934660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Применялись методы из инструментария Jupyter</a:t>
            </a:r>
            <a:endParaRPr sz="16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38" y="1279574"/>
            <a:ext cx="13995923" cy="38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37250" y="400200"/>
            <a:ext cx="1407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Данные пучка после прохождения триплета из тонких линз и значения конфигурации линз и дрейфов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07950" y="5464175"/>
            <a:ext cx="107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01500" y="5339875"/>
            <a:ext cx="13667400" cy="186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Конфигурация</a:t>
            </a:r>
            <a:r>
              <a:rPr lang="en-US" sz="2400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Дрейфов</a:t>
            </a:r>
            <a:r>
              <a:rPr lang="en-US" sz="2400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: 1.395 → 1.512 → 0.958 → 0.596 м </a:t>
            </a:r>
            <a:r>
              <a:rPr lang="en-US" sz="2400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Квадруполи</a:t>
            </a:r>
            <a:r>
              <a:rPr lang="en-US" sz="2400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: f1=+3.2641, f2=-1.6571, f3=+2.9923 </a:t>
            </a:r>
            <a:endParaRPr sz="2400" dirty="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Конечные</a:t>
            </a:r>
            <a:r>
              <a:rPr lang="en-US" sz="2400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параметры</a:t>
            </a:r>
            <a:r>
              <a:rPr lang="en-US" sz="2400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: X: β = 8.001954, α = +0.000715 Y: β = 3.999679, α = +0.001274</a:t>
            </a:r>
            <a:endParaRPr sz="2400" dirty="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061926" y="425531"/>
            <a:ext cx="30138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Решение</a:t>
            </a:r>
            <a:endParaRPr sz="2350" b="1" i="0" u="none" strike="noStrike" cap="none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79076" y="2118782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оптимизации</a:t>
            </a:r>
            <a:endParaRPr sz="165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179069" y="2588427"/>
            <a:ext cx="25116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lang="en-US" sz="19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Глобальный поиск</a:t>
            </a:r>
            <a:endParaRPr sz="1950" b="0" i="0" u="none" strike="noStrike" cap="none"/>
          </a:p>
        </p:txBody>
      </p:sp>
      <p:sp>
        <p:nvSpPr>
          <p:cNvPr id="158" name="Google Shape;158;p17"/>
          <p:cNvSpPr/>
          <p:nvPr/>
        </p:nvSpPr>
        <p:spPr>
          <a:xfrm>
            <a:off x="179069" y="309265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Дифференциальная эволюция — поиск области глобального минимума</a:t>
            </a:r>
            <a:endParaRPr sz="1650" b="0" i="0" u="none" strike="noStrike" cap="none"/>
          </a:p>
        </p:txBody>
      </p:sp>
      <p:sp>
        <p:nvSpPr>
          <p:cNvPr id="159" name="Google Shape;159;p17"/>
          <p:cNvSpPr/>
          <p:nvPr/>
        </p:nvSpPr>
        <p:spPr>
          <a:xfrm>
            <a:off x="245853" y="4252083"/>
            <a:ext cx="27924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lang="en-US" sz="19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Локальное уточнение</a:t>
            </a:r>
            <a:endParaRPr sz="1950" b="0" i="0" u="none" strike="noStrike" cap="none"/>
          </a:p>
        </p:txBody>
      </p:sp>
      <p:sp>
        <p:nvSpPr>
          <p:cNvPr id="160" name="Google Shape;160;p17"/>
          <p:cNvSpPr/>
          <p:nvPr/>
        </p:nvSpPr>
        <p:spPr>
          <a:xfrm>
            <a:off x="202053" y="4756288"/>
            <a:ext cx="28800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Метод BFGS — быстрая сходимость к точному решению</a:t>
            </a:r>
            <a:endParaRPr sz="1650" b="0" i="0" u="none" strike="noStrike" cap="none"/>
          </a:p>
        </p:txBody>
      </p:sp>
      <p:sp>
        <p:nvSpPr>
          <p:cNvPr id="161" name="Google Shape;161;p17"/>
          <p:cNvSpPr/>
          <p:nvPr/>
        </p:nvSpPr>
        <p:spPr>
          <a:xfrm>
            <a:off x="735876" y="1144907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endParaRPr sz="1650" b="0" i="0" u="none" strike="noStrike" cap="none"/>
          </a:p>
        </p:txBody>
      </p:sp>
      <p:sp>
        <p:nvSpPr>
          <p:cNvPr id="162" name="Google Shape;162;p17"/>
          <p:cNvSpPr/>
          <p:nvPr/>
        </p:nvSpPr>
        <p:spPr>
          <a:xfrm>
            <a:off x="179069" y="114490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Рассчет с учетом толстых линз - увеличение реализма</a:t>
            </a:r>
            <a:endParaRPr sz="1650" b="0" i="0" u="none" strike="noStrike" cap="none"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r="33039" b="20439"/>
          <a:stretch/>
        </p:blipFill>
        <p:spPr>
          <a:xfrm>
            <a:off x="3529075" y="357175"/>
            <a:ext cx="11036299" cy="743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l="66717" b="58932"/>
          <a:stretch/>
        </p:blipFill>
        <p:spPr>
          <a:xfrm>
            <a:off x="971125" y="1646238"/>
            <a:ext cx="6843302" cy="47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l="70975" t="41871" r="15902"/>
          <a:stretch/>
        </p:blipFill>
        <p:spPr>
          <a:xfrm>
            <a:off x="9448176" y="104776"/>
            <a:ext cx="2713551" cy="681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8635150" y="6435050"/>
            <a:ext cx="86694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b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Итоговая структура системы</a:t>
            </a:r>
            <a:endParaRPr sz="2350" b="0" i="0" u="none" strike="noStrike" cap="none"/>
          </a:p>
        </p:txBody>
      </p:sp>
      <p:sp>
        <p:nvSpPr>
          <p:cNvPr id="172" name="Google Shape;172;p18"/>
          <p:cNvSpPr txBox="1"/>
          <p:nvPr/>
        </p:nvSpPr>
        <p:spPr>
          <a:xfrm>
            <a:off x="388175" y="6287125"/>
            <a:ext cx="90600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Размеры пучка по мере прохождения через систему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2781825" y="7547500"/>
            <a:ext cx="1848600" cy="68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2322135" y="803675"/>
            <a:ext cx="9986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Оптимальная геометрия триплета</a:t>
            </a:r>
            <a:endParaRPr sz="4400" b="0" i="0" u="none" strike="noStrike" cap="none"/>
          </a:p>
        </p:txBody>
      </p:sp>
      <p:sp>
        <p:nvSpPr>
          <p:cNvPr id="180" name="Google Shape;180;p19"/>
          <p:cNvSpPr/>
          <p:nvPr/>
        </p:nvSpPr>
        <p:spPr>
          <a:xfrm>
            <a:off x="837724" y="1956792"/>
            <a:ext cx="12954952" cy="5498783"/>
          </a:xfrm>
          <a:prstGeom prst="roundRect">
            <a:avLst>
              <a:gd name="adj" fmla="val 1828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845344" y="1964412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-733516" y="2115547"/>
            <a:ext cx="2752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Элемент</a:t>
            </a:r>
            <a:endParaRPr sz="1850" b="0" i="0" u="none" strike="noStrike" cap="none"/>
          </a:p>
        </p:txBody>
      </p:sp>
      <p:sp>
        <p:nvSpPr>
          <p:cNvPr id="183" name="Google Shape;183;p19"/>
          <p:cNvSpPr/>
          <p:nvPr/>
        </p:nvSpPr>
        <p:spPr>
          <a:xfrm>
            <a:off x="4323398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Длина L, м</a:t>
            </a:r>
            <a:endParaRPr sz="1850" b="0" i="0" u="none" strike="noStrike" cap="none"/>
          </a:p>
        </p:txBody>
      </p:sp>
      <p:sp>
        <p:nvSpPr>
          <p:cNvPr id="184" name="Google Shape;184;p19"/>
          <p:cNvSpPr/>
          <p:nvPr/>
        </p:nvSpPr>
        <p:spPr>
          <a:xfrm>
            <a:off x="7558326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Сила k, м⁻²</a:t>
            </a:r>
            <a:endParaRPr sz="1850" b="0" i="0" u="none" strike="noStrike" cap="none"/>
          </a:p>
        </p:txBody>
      </p:sp>
      <p:sp>
        <p:nvSpPr>
          <p:cNvPr id="185" name="Google Shape;185;p19"/>
          <p:cNvSpPr/>
          <p:nvPr/>
        </p:nvSpPr>
        <p:spPr>
          <a:xfrm>
            <a:off x="10793254" y="2115622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Тип</a:t>
            </a:r>
            <a:endParaRPr sz="1850" b="0" i="0" u="none" strike="noStrike" cap="none"/>
          </a:p>
        </p:txBody>
      </p:sp>
      <p:sp>
        <p:nvSpPr>
          <p:cNvPr id="186" name="Google Shape;186;p19"/>
          <p:cNvSpPr/>
          <p:nvPr/>
        </p:nvSpPr>
        <p:spPr>
          <a:xfrm>
            <a:off x="845344" y="2649855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1084659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вх.</a:t>
            </a:r>
            <a:endParaRPr sz="1850" b="0" i="0" u="none" strike="noStrike" cap="none"/>
          </a:p>
        </p:txBody>
      </p:sp>
      <p:sp>
        <p:nvSpPr>
          <p:cNvPr id="188" name="Google Shape;188;p19"/>
          <p:cNvSpPr/>
          <p:nvPr/>
        </p:nvSpPr>
        <p:spPr>
          <a:xfrm>
            <a:off x="4323398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0.618</a:t>
            </a:r>
            <a:endParaRPr sz="1850" b="0" i="0" u="none" strike="noStrike" cap="none"/>
          </a:p>
        </p:txBody>
      </p:sp>
      <p:sp>
        <p:nvSpPr>
          <p:cNvPr id="189" name="Google Shape;189;p19"/>
          <p:cNvSpPr/>
          <p:nvPr/>
        </p:nvSpPr>
        <p:spPr>
          <a:xfrm>
            <a:off x="7558326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190" name="Google Shape;190;p19"/>
          <p:cNvSpPr/>
          <p:nvPr/>
        </p:nvSpPr>
        <p:spPr>
          <a:xfrm>
            <a:off x="10793254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191" name="Google Shape;191;p19"/>
          <p:cNvSpPr/>
          <p:nvPr/>
        </p:nvSpPr>
        <p:spPr>
          <a:xfrm>
            <a:off x="845344" y="3335298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1084659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Q1</a:t>
            </a:r>
            <a:endParaRPr sz="1850" b="0" i="0" u="none" strike="noStrike" cap="none"/>
          </a:p>
        </p:txBody>
      </p:sp>
      <p:sp>
        <p:nvSpPr>
          <p:cNvPr id="193" name="Google Shape;193;p19"/>
          <p:cNvSpPr/>
          <p:nvPr/>
        </p:nvSpPr>
        <p:spPr>
          <a:xfrm>
            <a:off x="4323398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0.569</a:t>
            </a:r>
            <a:endParaRPr sz="1850" b="0" i="0" u="none" strike="noStrike" cap="none"/>
          </a:p>
        </p:txBody>
      </p:sp>
      <p:sp>
        <p:nvSpPr>
          <p:cNvPr id="194" name="Google Shape;194;p19"/>
          <p:cNvSpPr/>
          <p:nvPr/>
        </p:nvSpPr>
        <p:spPr>
          <a:xfrm>
            <a:off x="7558326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+0.951</a:t>
            </a:r>
            <a:endParaRPr sz="1850" b="0" i="0" u="none" strike="noStrike" cap="none"/>
          </a:p>
        </p:txBody>
      </p:sp>
      <p:sp>
        <p:nvSpPr>
          <p:cNvPr id="195" name="Google Shape;195;p19"/>
          <p:cNvSpPr/>
          <p:nvPr/>
        </p:nvSpPr>
        <p:spPr>
          <a:xfrm>
            <a:off x="10793254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sz="1850" b="0" i="0" u="none" strike="noStrike" cap="none"/>
          </a:p>
        </p:txBody>
      </p:sp>
      <p:sp>
        <p:nvSpPr>
          <p:cNvPr id="196" name="Google Shape;196;p19"/>
          <p:cNvSpPr/>
          <p:nvPr/>
        </p:nvSpPr>
        <p:spPr>
          <a:xfrm>
            <a:off x="845344" y="4020741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1084659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1</a:t>
            </a:r>
            <a:endParaRPr sz="1850" b="0" i="0" u="none" strike="noStrike" cap="none"/>
          </a:p>
        </p:txBody>
      </p:sp>
      <p:sp>
        <p:nvSpPr>
          <p:cNvPr id="198" name="Google Shape;198;p19"/>
          <p:cNvSpPr/>
          <p:nvPr/>
        </p:nvSpPr>
        <p:spPr>
          <a:xfrm>
            <a:off x="4323398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1.596</a:t>
            </a:r>
            <a:endParaRPr sz="1850" b="0" i="0" u="none" strike="noStrike" cap="none"/>
          </a:p>
        </p:txBody>
      </p:sp>
      <p:sp>
        <p:nvSpPr>
          <p:cNvPr id="199" name="Google Shape;199;p19"/>
          <p:cNvSpPr/>
          <p:nvPr/>
        </p:nvSpPr>
        <p:spPr>
          <a:xfrm>
            <a:off x="7558326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00" name="Google Shape;200;p19"/>
          <p:cNvSpPr/>
          <p:nvPr/>
        </p:nvSpPr>
        <p:spPr>
          <a:xfrm>
            <a:off x="10793254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01" name="Google Shape;201;p19"/>
          <p:cNvSpPr/>
          <p:nvPr/>
        </p:nvSpPr>
        <p:spPr>
          <a:xfrm>
            <a:off x="845344" y="4706183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1084659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Q2</a:t>
            </a:r>
            <a:endParaRPr sz="1850" b="0" i="0" u="none" strike="noStrike" cap="none"/>
          </a:p>
        </p:txBody>
      </p:sp>
      <p:sp>
        <p:nvSpPr>
          <p:cNvPr id="203" name="Google Shape;203;p19"/>
          <p:cNvSpPr/>
          <p:nvPr/>
        </p:nvSpPr>
        <p:spPr>
          <a:xfrm>
            <a:off x="4323398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0.870</a:t>
            </a:r>
            <a:endParaRPr sz="1850" b="0" i="0" u="none" strike="noStrike" cap="none"/>
          </a:p>
        </p:txBody>
      </p:sp>
      <p:sp>
        <p:nvSpPr>
          <p:cNvPr id="204" name="Google Shape;204;p19"/>
          <p:cNvSpPr/>
          <p:nvPr/>
        </p:nvSpPr>
        <p:spPr>
          <a:xfrm>
            <a:off x="7558326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-0.732</a:t>
            </a:r>
            <a:endParaRPr sz="1850" b="0" i="0" u="none" strike="noStrike" cap="none"/>
          </a:p>
        </p:txBody>
      </p:sp>
      <p:sp>
        <p:nvSpPr>
          <p:cNvPr id="205" name="Google Shape;205;p19"/>
          <p:cNvSpPr/>
          <p:nvPr/>
        </p:nvSpPr>
        <p:spPr>
          <a:xfrm>
            <a:off x="10793254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QD (фок. Y)</a:t>
            </a:r>
            <a:endParaRPr sz="1850" b="0" i="0" u="none" strike="noStrike" cap="none"/>
          </a:p>
        </p:txBody>
      </p:sp>
      <p:sp>
        <p:nvSpPr>
          <p:cNvPr id="206" name="Google Shape;206;p19"/>
          <p:cNvSpPr/>
          <p:nvPr/>
        </p:nvSpPr>
        <p:spPr>
          <a:xfrm>
            <a:off x="845344" y="5391626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1084659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2</a:t>
            </a:r>
            <a:endParaRPr sz="1850" b="0" i="0" u="none" strike="noStrike" cap="none"/>
          </a:p>
        </p:txBody>
      </p:sp>
      <p:sp>
        <p:nvSpPr>
          <p:cNvPr id="208" name="Google Shape;208;p19"/>
          <p:cNvSpPr/>
          <p:nvPr/>
        </p:nvSpPr>
        <p:spPr>
          <a:xfrm>
            <a:off x="4323398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1.004</a:t>
            </a:r>
            <a:endParaRPr sz="1850" b="0" i="0" u="none" strike="noStrike" cap="none"/>
          </a:p>
        </p:txBody>
      </p:sp>
      <p:sp>
        <p:nvSpPr>
          <p:cNvPr id="209" name="Google Shape;209;p19"/>
          <p:cNvSpPr/>
          <p:nvPr/>
        </p:nvSpPr>
        <p:spPr>
          <a:xfrm>
            <a:off x="7558326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10" name="Google Shape;210;p19"/>
          <p:cNvSpPr/>
          <p:nvPr/>
        </p:nvSpPr>
        <p:spPr>
          <a:xfrm>
            <a:off x="10793254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11" name="Google Shape;211;p19"/>
          <p:cNvSpPr/>
          <p:nvPr/>
        </p:nvSpPr>
        <p:spPr>
          <a:xfrm>
            <a:off x="845344" y="6077069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1084659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Q3</a:t>
            </a:r>
            <a:endParaRPr sz="1850" b="0" i="0" u="none" strike="noStrike" cap="none"/>
          </a:p>
        </p:txBody>
      </p:sp>
      <p:sp>
        <p:nvSpPr>
          <p:cNvPr id="213" name="Google Shape;213;p19"/>
          <p:cNvSpPr/>
          <p:nvPr/>
        </p:nvSpPr>
        <p:spPr>
          <a:xfrm>
            <a:off x="4323398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0.372</a:t>
            </a:r>
            <a:endParaRPr sz="1850" b="0" i="0" u="none" strike="noStrike" cap="none"/>
          </a:p>
        </p:txBody>
      </p:sp>
      <p:sp>
        <p:nvSpPr>
          <p:cNvPr id="214" name="Google Shape;214;p19"/>
          <p:cNvSpPr/>
          <p:nvPr/>
        </p:nvSpPr>
        <p:spPr>
          <a:xfrm>
            <a:off x="7558326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+1.291</a:t>
            </a:r>
            <a:endParaRPr sz="1850" b="0" i="0" u="none" strike="noStrike" cap="none"/>
          </a:p>
        </p:txBody>
      </p:sp>
      <p:sp>
        <p:nvSpPr>
          <p:cNvPr id="215" name="Google Shape;215;p19"/>
          <p:cNvSpPr/>
          <p:nvPr/>
        </p:nvSpPr>
        <p:spPr>
          <a:xfrm>
            <a:off x="10793254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sz="1850" b="0" i="0" u="none" strike="noStrike" cap="none"/>
          </a:p>
        </p:txBody>
      </p:sp>
      <p:sp>
        <p:nvSpPr>
          <p:cNvPr id="216" name="Google Shape;216;p19"/>
          <p:cNvSpPr/>
          <p:nvPr/>
        </p:nvSpPr>
        <p:spPr>
          <a:xfrm>
            <a:off x="845344" y="6762512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1084659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вых.</a:t>
            </a:r>
            <a:endParaRPr sz="1850" b="0" i="0" u="none" strike="noStrike" cap="none"/>
          </a:p>
        </p:txBody>
      </p:sp>
      <p:sp>
        <p:nvSpPr>
          <p:cNvPr id="218" name="Google Shape;218;p19"/>
          <p:cNvSpPr/>
          <p:nvPr/>
        </p:nvSpPr>
        <p:spPr>
          <a:xfrm>
            <a:off x="4323398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0.720</a:t>
            </a:r>
            <a:endParaRPr sz="1850" b="0" i="0" u="none" strike="noStrike" cap="none"/>
          </a:p>
        </p:txBody>
      </p:sp>
      <p:sp>
        <p:nvSpPr>
          <p:cNvPr id="219" name="Google Shape;219;p19"/>
          <p:cNvSpPr/>
          <p:nvPr/>
        </p:nvSpPr>
        <p:spPr>
          <a:xfrm>
            <a:off x="7558326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20" name="Google Shape;220;p19"/>
          <p:cNvSpPr/>
          <p:nvPr/>
        </p:nvSpPr>
        <p:spPr>
          <a:xfrm>
            <a:off x="10793254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21" name="Google Shape;221;p19"/>
          <p:cNvSpPr/>
          <p:nvPr/>
        </p:nvSpPr>
        <p:spPr>
          <a:xfrm>
            <a:off x="12785950" y="7759212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837724" y="915751"/>
            <a:ext cx="7257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Результаты согласовани</a:t>
            </a:r>
            <a:r>
              <a:rPr lang="en-US" sz="4400">
                <a:latin typeface="Source Serif 4"/>
                <a:ea typeface="Source Serif 4"/>
                <a:cs typeface="Source Serif 4"/>
                <a:sym typeface="Source Serif 4"/>
              </a:rPr>
              <a:t>я</a:t>
            </a:r>
            <a:endParaRPr sz="4400" b="0" i="0" u="none" strike="noStrike" cap="none"/>
          </a:p>
        </p:txBody>
      </p:sp>
      <p:sp>
        <p:nvSpPr>
          <p:cNvPr id="228" name="Google Shape;228;p20"/>
          <p:cNvSpPr/>
          <p:nvPr/>
        </p:nvSpPr>
        <p:spPr>
          <a:xfrm>
            <a:off x="9645491" y="3276600"/>
            <a:ext cx="4154686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29" name="Google Shape;229;p20"/>
          <p:cNvSpPr/>
          <p:nvPr/>
        </p:nvSpPr>
        <p:spPr>
          <a:xfrm>
            <a:off x="837724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8.000</a:t>
            </a:r>
            <a:endParaRPr sz="6200" b="0" i="0" u="none" strike="noStrike" cap="none"/>
          </a:p>
        </p:txBody>
      </p:sp>
      <p:sp>
        <p:nvSpPr>
          <p:cNvPr id="230" name="Google Shape;230;p20"/>
          <p:cNvSpPr/>
          <p:nvPr/>
        </p:nvSpPr>
        <p:spPr>
          <a:xfrm>
            <a:off x="1488996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βₓ, м</a:t>
            </a:r>
            <a:endParaRPr sz="2200" b="0" i="0" u="none" strike="noStrike" cap="none"/>
          </a:p>
        </p:txBody>
      </p:sp>
      <p:sp>
        <p:nvSpPr>
          <p:cNvPr id="231" name="Google Shape;231;p20"/>
          <p:cNvSpPr/>
          <p:nvPr/>
        </p:nvSpPr>
        <p:spPr>
          <a:xfrm>
            <a:off x="837724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sz="1850" b="0" i="0" u="none" strike="noStrike" cap="none"/>
          </a:p>
        </p:txBody>
      </p:sp>
      <p:sp>
        <p:nvSpPr>
          <p:cNvPr id="232" name="Google Shape;232;p20"/>
          <p:cNvSpPr/>
          <p:nvPr/>
        </p:nvSpPr>
        <p:spPr>
          <a:xfrm>
            <a:off x="5255776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4.000</a:t>
            </a:r>
            <a:endParaRPr sz="6200" b="0" i="0" u="none" strike="noStrike" cap="none"/>
          </a:p>
        </p:txBody>
      </p:sp>
      <p:sp>
        <p:nvSpPr>
          <p:cNvPr id="233" name="Google Shape;233;p20"/>
          <p:cNvSpPr/>
          <p:nvPr/>
        </p:nvSpPr>
        <p:spPr>
          <a:xfrm>
            <a:off x="5907048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βᵧ, м</a:t>
            </a:r>
            <a:endParaRPr sz="2200" b="0" i="0" u="none" strike="noStrike" cap="none"/>
          </a:p>
        </p:txBody>
      </p:sp>
      <p:sp>
        <p:nvSpPr>
          <p:cNvPr id="234" name="Google Shape;234;p20"/>
          <p:cNvSpPr/>
          <p:nvPr/>
        </p:nvSpPr>
        <p:spPr>
          <a:xfrm>
            <a:off x="5255776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sz="1850" b="0" i="0" u="none" strike="noStrike" cap="none"/>
          </a:p>
        </p:txBody>
      </p:sp>
      <p:sp>
        <p:nvSpPr>
          <p:cNvPr id="235" name="Google Shape;235;p20"/>
          <p:cNvSpPr/>
          <p:nvPr/>
        </p:nvSpPr>
        <p:spPr>
          <a:xfrm>
            <a:off x="9673828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0.0%</a:t>
            </a:r>
            <a:endParaRPr sz="6200" b="0" i="0" u="none" strike="noStrike" cap="none"/>
          </a:p>
        </p:txBody>
      </p:sp>
      <p:sp>
        <p:nvSpPr>
          <p:cNvPr id="236" name="Google Shape;236;p20"/>
          <p:cNvSpPr/>
          <p:nvPr/>
        </p:nvSpPr>
        <p:spPr>
          <a:xfrm>
            <a:off x="10325100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Погрешность</a:t>
            </a:r>
            <a:endParaRPr sz="2200" b="0" i="0" u="none" strike="noStrike" cap="none"/>
          </a:p>
        </p:txBody>
      </p:sp>
      <p:sp>
        <p:nvSpPr>
          <p:cNvPr id="237" name="Google Shape;237;p20"/>
          <p:cNvSpPr/>
          <p:nvPr/>
        </p:nvSpPr>
        <p:spPr>
          <a:xfrm>
            <a:off x="9673828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и αᵧ ≈ 0</a:t>
            </a:r>
            <a:endParaRPr sz="1850" b="0" i="0" u="none" strike="noStrike" cap="none"/>
          </a:p>
        </p:txBody>
      </p:sp>
      <p:sp>
        <p:nvSpPr>
          <p:cNvPr id="238" name="Google Shape;238;p20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4293810" y="333242"/>
            <a:ext cx="604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Стыковка с бустером</a:t>
            </a:r>
            <a:endParaRPr sz="4400" b="0" i="0" u="none" strike="noStrike" cap="none"/>
          </a:p>
        </p:txBody>
      </p:sp>
      <p:sp>
        <p:nvSpPr>
          <p:cNvPr id="245" name="Google Shape;245;p21"/>
          <p:cNvSpPr/>
          <p:nvPr/>
        </p:nvSpPr>
        <p:spPr>
          <a:xfrm>
            <a:off x="150509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</a:t>
            </a:r>
            <a:endParaRPr sz="2487" b="0" i="0" u="none" strike="noStrike" cap="none"/>
          </a:p>
        </p:txBody>
      </p:sp>
      <p:sp>
        <p:nvSpPr>
          <p:cNvPr id="246" name="Google Shape;246;p21"/>
          <p:cNvSpPr/>
          <p:nvPr/>
        </p:nvSpPr>
        <p:spPr>
          <a:xfrm>
            <a:off x="-452997" y="2921655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Основное согласование</a:t>
            </a:r>
            <a:endParaRPr sz="2091" b="0" i="0" u="none" strike="noStrike" cap="none"/>
          </a:p>
        </p:txBody>
      </p:sp>
      <p:sp>
        <p:nvSpPr>
          <p:cNvPr id="247" name="Google Shape;247;p21"/>
          <p:cNvSpPr/>
          <p:nvPr/>
        </p:nvSpPr>
        <p:spPr>
          <a:xfrm>
            <a:off x="5286278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Септум</a:t>
            </a:r>
            <a:endParaRPr sz="2487" b="0" i="0" u="none" strike="noStrike" cap="none"/>
          </a:p>
        </p:txBody>
      </p:sp>
      <p:sp>
        <p:nvSpPr>
          <p:cNvPr id="248" name="Google Shape;248;p21"/>
          <p:cNvSpPr/>
          <p:nvPr/>
        </p:nvSpPr>
        <p:spPr>
          <a:xfrm>
            <a:off x="4682828" y="2921655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Плавный поворот на ~3°</a:t>
            </a:r>
            <a:endParaRPr sz="2091" b="0" i="0" u="none" strike="noStrike" cap="none"/>
          </a:p>
        </p:txBody>
      </p:sp>
      <p:sp>
        <p:nvSpPr>
          <p:cNvPr id="249" name="Google Shape;249;p21"/>
          <p:cNvSpPr/>
          <p:nvPr/>
        </p:nvSpPr>
        <p:spPr>
          <a:xfrm>
            <a:off x="10345507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sz="2487" b="0" i="0" u="none" strike="noStrike" cap="none"/>
          </a:p>
        </p:txBody>
      </p:sp>
      <p:sp>
        <p:nvSpPr>
          <p:cNvPr id="250" name="Google Shape;250;p21"/>
          <p:cNvSpPr/>
          <p:nvPr/>
        </p:nvSpPr>
        <p:spPr>
          <a:xfrm>
            <a:off x="9665363" y="2921655"/>
            <a:ext cx="45438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Инжекция на орбиту</a:t>
            </a:r>
            <a:endParaRPr sz="2091" b="0" i="0" u="none" strike="noStrike" cap="none"/>
          </a:p>
        </p:txBody>
      </p:sp>
      <p:sp>
        <p:nvSpPr>
          <p:cNvPr id="251" name="Google Shape;251;p21"/>
          <p:cNvSpPr/>
          <p:nvPr/>
        </p:nvSpPr>
        <p:spPr>
          <a:xfrm>
            <a:off x="9022215" y="4915149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Дисперсия</a:t>
            </a:r>
            <a:endParaRPr sz="2487" b="0" i="0" u="none" strike="noStrike" cap="none"/>
          </a:p>
        </p:txBody>
      </p:sp>
      <p:sp>
        <p:nvSpPr>
          <p:cNvPr id="252" name="Google Shape;252;p21"/>
          <p:cNvSpPr/>
          <p:nvPr/>
        </p:nvSpPr>
        <p:spPr>
          <a:xfrm>
            <a:off x="-615425" y="5703996"/>
            <a:ext cx="146451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Оценено влияние: &lt;0.02 мм — незначительно</a:t>
            </a:r>
            <a:endParaRPr sz="2091" b="0" i="0" u="none" strike="noStrike" cap="none"/>
          </a:p>
        </p:txBody>
      </p:sp>
      <p:sp>
        <p:nvSpPr>
          <p:cNvPr id="253" name="Google Shape;253;p21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4190405" y="2516398"/>
            <a:ext cx="1810200" cy="5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  <p:sp>
        <p:nvSpPr>
          <p:cNvPr id="255" name="Google Shape;255;p21"/>
          <p:cNvSpPr/>
          <p:nvPr/>
        </p:nvSpPr>
        <p:spPr>
          <a:xfrm>
            <a:off x="9525563" y="2516398"/>
            <a:ext cx="1810200" cy="5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  <p:sp>
        <p:nvSpPr>
          <p:cNvPr id="256" name="Google Shape;256;p21"/>
          <p:cNvSpPr/>
          <p:nvPr/>
        </p:nvSpPr>
        <p:spPr>
          <a:xfrm rot="2700000">
            <a:off x="7675294" y="3849913"/>
            <a:ext cx="1810335" cy="5697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837724" y="1411010"/>
            <a:ext cx="6391394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Ключевые результаты</a:t>
            </a:r>
            <a:endParaRPr sz="4400" b="0" i="0" u="none" strike="noStrike" cap="none"/>
          </a:p>
        </p:txBody>
      </p:sp>
      <p:sp>
        <p:nvSpPr>
          <p:cNvPr id="263" name="Google Shape;263;p22"/>
          <p:cNvSpPr/>
          <p:nvPr/>
        </p:nvSpPr>
        <p:spPr>
          <a:xfrm>
            <a:off x="837724" y="259377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807244" y="2593777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198959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Задача решена</a:t>
            </a:r>
            <a:endParaRPr sz="2200" b="0" i="0" u="none" strike="noStrike" cap="none"/>
          </a:p>
        </p:txBody>
      </p:sp>
      <p:sp>
        <p:nvSpPr>
          <p:cNvPr id="266" name="Google Shape;266;p22"/>
          <p:cNvSpPr/>
          <p:nvPr/>
        </p:nvSpPr>
        <p:spPr>
          <a:xfrm>
            <a:off x="1198959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Параметры α и β на выходе соответствуют целевым с нулевой погрешностью</a:t>
            </a:r>
            <a:endParaRPr sz="1850" b="0" i="0" u="none" strike="noStrike" cap="none"/>
          </a:p>
        </p:txBody>
      </p:sp>
      <p:sp>
        <p:nvSpPr>
          <p:cNvPr id="267" name="Google Shape;267;p22"/>
          <p:cNvSpPr/>
          <p:nvPr/>
        </p:nvSpPr>
        <p:spPr>
          <a:xfrm>
            <a:off x="7434858" y="259377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7404378" y="2593777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796093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Метод</a:t>
            </a:r>
            <a:endParaRPr sz="2200" b="0" i="0" u="none" strike="noStrike" cap="none"/>
          </a:p>
        </p:txBody>
      </p:sp>
      <p:sp>
        <p:nvSpPr>
          <p:cNvPr id="270" name="Google Shape;270;p22"/>
          <p:cNvSpPr/>
          <p:nvPr/>
        </p:nvSpPr>
        <p:spPr>
          <a:xfrm>
            <a:off x="7796093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(DE + BFGS) эффективен для невыпуклой оптимизации</a:t>
            </a:r>
            <a:endParaRPr sz="1850" b="0" i="0" u="none" strike="noStrike" cap="none"/>
          </a:p>
        </p:txBody>
      </p:sp>
      <p:sp>
        <p:nvSpPr>
          <p:cNvPr id="271" name="Google Shape;271;p22"/>
          <p:cNvSpPr/>
          <p:nvPr/>
        </p:nvSpPr>
        <p:spPr>
          <a:xfrm>
            <a:off x="837724" y="4634270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807244" y="4634270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198959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Реализация</a:t>
            </a:r>
            <a:endParaRPr sz="2200" b="0" i="0" u="none" strike="noStrike" cap="none"/>
          </a:p>
        </p:txBody>
      </p:sp>
      <p:sp>
        <p:nvSpPr>
          <p:cNvPr id="274" name="Google Shape;274;p22"/>
          <p:cNvSpPr/>
          <p:nvPr/>
        </p:nvSpPr>
        <p:spPr>
          <a:xfrm>
            <a:off x="1198959" y="5399603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Получены </a:t>
            </a:r>
            <a:r>
              <a:rPr lang="en-US" sz="18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технологические</a:t>
            </a: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параметры магнитов (умеренные градиенты поля)</a:t>
            </a:r>
            <a:endParaRPr sz="1850" b="0" i="0" u="none" strike="noStrike" cap="none"/>
          </a:p>
        </p:txBody>
      </p:sp>
      <p:sp>
        <p:nvSpPr>
          <p:cNvPr id="275" name="Google Shape;275;p22"/>
          <p:cNvSpPr/>
          <p:nvPr/>
        </p:nvSpPr>
        <p:spPr>
          <a:xfrm>
            <a:off x="7434858" y="4634270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404378" y="4634270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7796093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Интеграция</a:t>
            </a:r>
            <a:endParaRPr sz="2200" b="0" i="0" u="none" strike="noStrike" cap="none"/>
          </a:p>
        </p:txBody>
      </p:sp>
      <p:sp>
        <p:nvSpPr>
          <p:cNvPr id="278" name="Google Shape;278;p22"/>
          <p:cNvSpPr/>
          <p:nvPr/>
        </p:nvSpPr>
        <p:spPr>
          <a:xfrm>
            <a:off x="7796093" y="5399603"/>
            <a:ext cx="5726787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Предложена полная схема стыковки с бустером, включающая септум (возможно рассмотрение дополнительных корректоров)</a:t>
            </a:r>
            <a:endParaRPr sz="1850" b="0" i="0" u="none" strike="noStrike" cap="none"/>
          </a:p>
        </p:txBody>
      </p:sp>
      <p:sp>
        <p:nvSpPr>
          <p:cNvPr id="279" name="Google Shape;279;p2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/>
          <p:nvPr/>
        </p:nvSpPr>
        <p:spPr>
          <a:xfrm>
            <a:off x="990724" y="3315949"/>
            <a:ext cx="126489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8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0"/>
              <a:buFont typeface="Source Serif 4"/>
              <a:buNone/>
            </a:pPr>
            <a:r>
              <a:rPr lang="en-US" sz="88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Спасибо за внимание!</a:t>
            </a:r>
            <a:endParaRPr sz="8850" b="0" i="0" u="none" strike="noStrike" cap="none"/>
          </a:p>
        </p:txBody>
      </p:sp>
      <p:sp>
        <p:nvSpPr>
          <p:cNvPr id="286" name="Google Shape;286;p23"/>
          <p:cNvSpPr/>
          <p:nvPr/>
        </p:nvSpPr>
        <p:spPr>
          <a:xfrm>
            <a:off x="837724" y="317623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7" name="Google Shape;287;p23"/>
          <p:cNvSpPr/>
          <p:nvPr/>
        </p:nvSpPr>
        <p:spPr>
          <a:xfrm>
            <a:off x="837724" y="3828455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8" name="Google Shape;288;p23"/>
          <p:cNvSpPr/>
          <p:nvPr/>
        </p:nvSpPr>
        <p:spPr>
          <a:xfrm>
            <a:off x="837724" y="4480679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9" name="Google Shape;289;p23"/>
          <p:cNvSpPr/>
          <p:nvPr/>
        </p:nvSpPr>
        <p:spPr>
          <a:xfrm>
            <a:off x="837724" y="5132903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0" name="Google Shape;290;p23"/>
          <p:cNvSpPr/>
          <p:nvPr/>
        </p:nvSpPr>
        <p:spPr>
          <a:xfrm>
            <a:off x="837724" y="5785128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1" name="Google Shape;291;p23"/>
          <p:cNvSpPr/>
          <p:nvPr/>
        </p:nvSpPr>
        <p:spPr>
          <a:xfrm>
            <a:off x="837724" y="643735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2" name="Google Shape;292;p23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Произвольный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Source Serif 4</vt:lpstr>
      <vt:lpstr>Calibri</vt:lpstr>
      <vt:lpstr>Source Sans 3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aaroxzzz@outlook.com</cp:lastModifiedBy>
  <cp:revision>1</cp:revision>
  <dcterms:modified xsi:type="dcterms:W3CDTF">2026-03-08T06:29:44Z</dcterms:modified>
</cp:coreProperties>
</file>